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1253e9cbb4a5a" /><Relationship Type="http://schemas.openxmlformats.org/officeDocument/2006/relationships/extended-properties" Target="/docProps/app.xml" Id="Rbfd03e1901c647bd" /><Relationship Type="http://schemas.openxmlformats.org/officeDocument/2006/relationships/officeDocument" Target="/ppt/presentation.xml" Id="Ra22c55bd657e49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693e0680c941f0"/>
  </p:sldMasterIdLst>
  <p:notesMasterIdLst>
    <p:notesMasterId xmlns:r="http://schemas.openxmlformats.org/officeDocument/2006/relationships" r:id="Rdc4de7442a434ec8"/>
  </p:notesMasterIdLst>
  <p:sldIdLst>
    <p:sldId xmlns:r="http://schemas.openxmlformats.org/officeDocument/2006/relationships" id="256" r:id="Ref5e77a6e98b4e41"/>
    <p:sldId xmlns:r="http://schemas.openxmlformats.org/officeDocument/2006/relationships" id="257" r:id="Rd676f7fec3a54bbf"/>
    <p:sldId xmlns:r="http://schemas.openxmlformats.org/officeDocument/2006/relationships" id="258" r:id="R90a9c1643ce34aba"/>
    <p:sldId xmlns:r="http://schemas.openxmlformats.org/officeDocument/2006/relationships" id="259" r:id="R21eaca9e49bc4d79"/>
    <p:sldId xmlns:r="http://schemas.openxmlformats.org/officeDocument/2006/relationships" id="260" r:id="Ra56002dce2574efc"/>
    <p:sldId xmlns:r="http://schemas.openxmlformats.org/officeDocument/2006/relationships" id="261" r:id="Rc1109fcafe0e4cdb"/>
    <p:sldId xmlns:r="http://schemas.openxmlformats.org/officeDocument/2006/relationships" id="262" r:id="R94b41f51e1b5450e"/>
    <p:sldId xmlns:r="http://schemas.openxmlformats.org/officeDocument/2006/relationships" id="263" r:id="Rc51ee47f00194d1c"/>
    <p:sldId xmlns:r="http://schemas.openxmlformats.org/officeDocument/2006/relationships" id="264" r:id="R1e10df1293a84e95"/>
    <p:sldId xmlns:r="http://schemas.openxmlformats.org/officeDocument/2006/relationships" id="265" r:id="R791026fbd3ee49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598b0e2a174b6f" /><Relationship Type="http://schemas.openxmlformats.org/officeDocument/2006/relationships/slideMaster" Target="/ppt/slideMasters/slideMaster1.xml" Id="R2e693e0680c941f0" /><Relationship Type="http://schemas.openxmlformats.org/officeDocument/2006/relationships/notesMaster" Target="/ppt/notesMasters/notesMaster1.xml" Id="Rdc4de7442a434ec8" /><Relationship Type="http://schemas.openxmlformats.org/officeDocument/2006/relationships/presProps" Target="/ppt/presProps.xml" Id="Rb9333422119144ad" /><Relationship Type="http://schemas.openxmlformats.org/officeDocument/2006/relationships/tableStyles" Target="/ppt/tableStyles.xml" Id="R42b6ffe921d546cb" /><Relationship Type="http://schemas.openxmlformats.org/officeDocument/2006/relationships/slide" Target="/ppt/slides/slide1.xml" Id="Ref5e77a6e98b4e41" /><Relationship Type="http://schemas.openxmlformats.org/officeDocument/2006/relationships/slide" Target="/ppt/slides/slide2.xml" Id="Rd676f7fec3a54bbf" /><Relationship Type="http://schemas.openxmlformats.org/officeDocument/2006/relationships/slide" Target="/ppt/slides/slide3.xml" Id="R90a9c1643ce34aba" /><Relationship Type="http://schemas.openxmlformats.org/officeDocument/2006/relationships/slide" Target="/ppt/slides/slide4.xml" Id="R21eaca9e49bc4d79" /><Relationship Type="http://schemas.openxmlformats.org/officeDocument/2006/relationships/slide" Target="/ppt/slides/slide5.xml" Id="Ra56002dce2574efc" /><Relationship Type="http://schemas.openxmlformats.org/officeDocument/2006/relationships/slide" Target="/ppt/slides/slide6.xml" Id="Rc1109fcafe0e4cdb" /><Relationship Type="http://schemas.openxmlformats.org/officeDocument/2006/relationships/slide" Target="/ppt/slides/slide7.xml" Id="R94b41f51e1b5450e" /><Relationship Type="http://schemas.openxmlformats.org/officeDocument/2006/relationships/slide" Target="/ppt/slides/slide8.xml" Id="Rc51ee47f00194d1c" /><Relationship Type="http://schemas.openxmlformats.org/officeDocument/2006/relationships/slide" Target="/ppt/slides/slide9.xml" Id="R1e10df1293a84e95" /><Relationship Type="http://schemas.openxmlformats.org/officeDocument/2006/relationships/slide" Target="/ppt/slides/slide10.xml" Id="R791026fbd3ee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74cfbe73a4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84bda9c4974454" /><Relationship Type="http://schemas.openxmlformats.org/officeDocument/2006/relationships/notesMaster" Target="/ppt/notesMasters/notesMaster1.xml" Id="R96adef60064642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7384f9eaf4b93" /><Relationship Type="http://schemas.openxmlformats.org/officeDocument/2006/relationships/notesMaster" Target="/ppt/notesMasters/notesMaster1.xml" Id="R78857c560dcb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0b046159014b6f" /><Relationship Type="http://schemas.openxmlformats.org/officeDocument/2006/relationships/notesMaster" Target="/ppt/notesMasters/notesMaster1.xml" Id="R949b1aa335014f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678c52adc04064" /><Relationship Type="http://schemas.openxmlformats.org/officeDocument/2006/relationships/notesMaster" Target="/ppt/notesMasters/notesMaster1.xml" Id="R769daeaea241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24b996ec04aea" /><Relationship Type="http://schemas.openxmlformats.org/officeDocument/2006/relationships/notesMaster" Target="/ppt/notesMasters/notesMaster1.xml" Id="Rdb87f23a3f2c43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55bfbe7239418f" /><Relationship Type="http://schemas.openxmlformats.org/officeDocument/2006/relationships/notesMaster" Target="/ppt/notesMasters/notesMaster1.xml" Id="Rb62a827c86004e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8eb047cc4543cd" /><Relationship Type="http://schemas.openxmlformats.org/officeDocument/2006/relationships/notesMaster" Target="/ppt/notesMasters/notesMaster1.xml" Id="R5fcaf7e599024e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7416d3196b41b9" /><Relationship Type="http://schemas.openxmlformats.org/officeDocument/2006/relationships/notesMaster" Target="/ppt/notesMasters/notesMaster1.xml" Id="R3072d82d53e840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71d5bfbf754a86" /><Relationship Type="http://schemas.openxmlformats.org/officeDocument/2006/relationships/notesMaster" Target="/ppt/notesMasters/notesMaster1.xml" Id="R2ee8720326d444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b28f5fb1b648c2" /><Relationship Type="http://schemas.openxmlformats.org/officeDocument/2006/relationships/notesMaster" Target="/ppt/notesMasters/notesMaster1.xml" Id="R1841c116d63942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16ca125864c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16d25f0dd4360" /><Relationship Type="http://schemas.openxmlformats.org/officeDocument/2006/relationships/slideLayout" Target="/ppt/slideLayouts/slideLayout1.xml" Id="Rfcb200bdf1524a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200bdf1524a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19c6d2f86498c" /><Relationship Type="http://schemas.openxmlformats.org/officeDocument/2006/relationships/notesSlide" Target="/ppt/notesSlides/notesSlide1.xml" Id="Re1161049b4044a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10004c37d47f0" /><Relationship Type="http://schemas.openxmlformats.org/officeDocument/2006/relationships/notesSlide" Target="/ppt/notesSlides/notesSlide2.xml" Id="Ra17b7af7cbbb44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789e607044945" /><Relationship Type="http://schemas.openxmlformats.org/officeDocument/2006/relationships/notesSlide" Target="/ppt/notesSlides/notesSlide3.xml" Id="Rd3dad174b09445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18acd90e24ba5" /><Relationship Type="http://schemas.openxmlformats.org/officeDocument/2006/relationships/notesSlide" Target="/ppt/notesSlides/notesSlide4.xml" Id="R812bd35e1b1f44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d142235874cd2" /><Relationship Type="http://schemas.openxmlformats.org/officeDocument/2006/relationships/notesSlide" Target="/ppt/notesSlides/notesSlide5.xml" Id="R9f6d78fd915747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a92f6c41c4545" /><Relationship Type="http://schemas.openxmlformats.org/officeDocument/2006/relationships/notesSlide" Target="/ppt/notesSlides/notesSlide6.xml" Id="R2dcd375c54a642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d065b90cd45cd" /><Relationship Type="http://schemas.openxmlformats.org/officeDocument/2006/relationships/notesSlide" Target="/ppt/notesSlides/notesSlide7.xml" Id="R6f31d610dc1748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f0200e1aa487f" /><Relationship Type="http://schemas.openxmlformats.org/officeDocument/2006/relationships/notesSlide" Target="/ppt/notesSlides/notesSlide8.xml" Id="R6a9944ed045544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261945401436b" /><Relationship Type="http://schemas.openxmlformats.org/officeDocument/2006/relationships/notesSlide" Target="/ppt/notesSlides/notesSlide9.xml" Id="R154480b2c6e04d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3e38291bc4d10" /><Relationship Type="http://schemas.openxmlformats.org/officeDocument/2006/relationships/notesSlide" Target="/ppt/notesSlides/notesSlide10.xml" Id="Rc5994c30cc764c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C21F4-E075-4300-AA13-5F500DC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28AFB-AE61-4FD3-97B3-F5BE7DA2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476AE-0566-4A57-84D6-5A553B71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71846-4D62-4B47-A00C-73C67C5E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1C0AB-9602-4747-A351-A5F1479B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4B5E5-A02E-4532-86C8-AD79F62A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313A0-21EC-4F89-890E-7C48FBF9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9EF50-7E59-42A2-9556-D3C8829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THREAD &amp; CORE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60E27-0081-40C8-B5E6-01E28A1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B61C2-0386-45B8-A3F0-A2E1DC51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A85A"/>
                </a:solidFill>
              </a:defRPr>
            </a:pPr>
            <a:r>
              <a:rPr sz="1050" b="1">
                <a:solidFill>
                  <a:srgbClr val="D8A85A"/>
                </a:solidFill>
              </a:rPr>
              <a:t>Capability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0021-7285-49F3-928A-EA29C781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7"/>
                </a:solidFill>
              </a:defRPr>
            </a:pPr>
            <a:r>
              <a:rPr sz="3600" b="1">
                <a:solidFill>
                  <a:srgbClr val="F5F0E7"/>
                </a:solidFill>
              </a:rPr>
              <a:t>Enterprise Architecture for Connected Business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A0023-136E-496E-9022-01435EA8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B0A4"/>
                </a:solidFill>
              </a:defRPr>
            </a:pPr>
            <a:r>
              <a:rPr sz="1500">
                <a:solidFill>
                  <a:srgbClr val="B8B0A4"/>
                </a:solidFill>
              </a:rPr>
              <a:t>We connect ERP, applications, data, automation, and AI into systems that run the business with clarity, scale, and ownership.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E4B12-89AE-4626-95A1-9EEC633B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711"/>
          </a:solidFill>
          <a:ln xmlns:a="http://schemas.openxmlformats.org/drawingml/2006/main" w="13335">
            <a:solidFill>
              <a:srgbClr val="D8A8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D0E0D-501C-4996-9228-31B6AEDD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289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10B"/>
          </a:solidFill>
          <a:ln xmlns:a="http://schemas.openxmlformats.org/drawingml/2006/main" w="19050">
            <a:solidFill>
              <a:srgbClr val="D8A8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CCE00-14F9-49BE-9DB7-B4B310B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76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0E7"/>
                </a:solidFill>
              </a:defRPr>
            </a:pPr>
            <a:r>
              <a:rPr sz="1500" b="1">
                <a:solidFill>
                  <a:srgbClr val="F5F0E7"/>
                </a:solidFill>
              </a:rPr>
              <a:t>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6B21E-6EF8-492C-99E9-9965EA00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-590550" cy="-8763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67609-6E52-42F9-A18E-7693989E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4C7D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DE863-F970-4120-952D-DA350497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F0E7"/>
                </a:solidFill>
              </a:defRPr>
            </a:pPr>
            <a:r>
              <a:rPr sz="900" b="1">
                <a:solidFill>
                  <a:srgbClr val="F5F0E7"/>
                </a:solidFill>
              </a:rPr>
              <a:t>ERP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4FE52-2DF2-4EB8-A801-82150386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1219200" cy="-6858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BE170-55B7-41EB-AF34-7DB53B7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4C7D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E7AAC-0E1B-474E-BF8C-AAD0D4F5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28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F0E7"/>
                </a:solidFill>
              </a:defRPr>
            </a:pPr>
            <a:r>
              <a:rPr sz="900" b="1">
                <a:solidFill>
                  <a:srgbClr val="F5F0E7"/>
                </a:solidFill>
              </a:rPr>
              <a:t>Apps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1251E-F933-4DF0-8EA8-C277640D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1266825" cy="8382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E78C8-2963-4991-82E3-0A6585EC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7665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4C7D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0AFD1-7223-4274-9004-DDFD0ACF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528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F0E7"/>
                </a:solidFill>
              </a:defRPr>
            </a:pPr>
            <a:r>
              <a:rPr sz="900" b="1">
                <a:solidFill>
                  <a:srgbClr val="F5F0E7"/>
                </a:solidFill>
              </a:rPr>
              <a:t>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4A74F-4519-4C42-99F3-9958958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-1066800" cy="8763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104B0-041C-43A6-B8C5-CAC5A1F5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4C7D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4391A-0342-42C0-B2BF-52D5C316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F0E7"/>
                </a:solidFill>
              </a:defRPr>
            </a:pPr>
            <a:r>
              <a:rPr sz="900" b="1">
                <a:solidFill>
                  <a:srgbClr val="F5F0E7"/>
                </a:solidFill>
              </a:rPr>
              <a:t>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D2E502-64A3-4428-8A64-7F0F20C2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-1143000" cy="-1524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0AA28-12A7-47A9-AE98-848BA5D0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4C7D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53AAB-7150-4DD7-9EFB-01F7B8B2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F0E7"/>
                </a:solidFill>
              </a:defRPr>
            </a:pPr>
            <a:r>
              <a:rPr sz="900" b="1">
                <a:solidFill>
                  <a:srgbClr val="F5F0E7"/>
                </a:solidFill>
              </a:rPr>
              <a:t>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CD747-E300-4017-8E53-8C04D917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0E7"/>
                </a:solidFill>
              </a:defRPr>
            </a:pPr>
            <a:r>
              <a:rPr sz="1200" b="1">
                <a:solidFill>
                  <a:srgbClr val="F5F0E7"/>
                </a:solidFill>
              </a:rPr>
              <a:t>Prashant Agarwal | Founder and Enterprise Architect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1CD1F-760E-4FE7-A4B0-0A92FBD1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0A4"/>
                </a:solidFill>
              </a:defRPr>
            </a:pPr>
            <a:r>
              <a:rPr sz="900">
                <a:solidFill>
                  <a:srgbClr val="B8B0A4"/>
                </a:solidFill>
              </a:rPr>
              <a:t>threadandcore.com | contact@threadandcore.com</a:t>
            </a:r>
          </a:p>
        </p:txBody>
      </p:sp>
    </p:spTree>
    <p:extLst>
      <p:ext uri="{BB962C8B-B14F-4D97-AF65-F5344CB8AC3E}">
        <p14:creationId xmlns:p14="http://schemas.microsoft.com/office/powerpoint/2010/main" val="1436437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4DD36-79BD-4962-AB4D-81A6446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00D73-7DF6-4815-9F55-61716A51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43189-E0C5-4B46-86B7-B7698787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017C1-B8AC-499C-9AC0-74144CC4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DC890-A920-44A2-B809-CE4A7319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9E7A1-5393-4C60-8851-FA2EB630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A5218-E488-48C8-A8DF-54328741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5FE83-2B04-429C-AC58-ABEE3B2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WHY THREAD &amp;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CD3C3-8FF6-42F5-9B26-E9FBA3C6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15F7D-423E-4C3A-B712-6B0F8407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The problem is rarely one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38636-A0EE-48BF-8A87-57C689C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Enterprise complexity usually lives between systems: handoffs, duplicate data, disconnected workflows, unclear ownership, and AI experiments that never reach production.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FC75D-7E4F-4970-B7DF-35CF5190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B757B-4146-44F6-8AFA-FA17993E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1AC92-42D1-4839-B5D0-7A4BD1FB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Processes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56D92-AC75-4977-8026-C43AC225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Critical work still moves through spreadsheets, emails, approvals, and undocumented exceptions.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2B57D-40B9-4D0D-8E2E-C8B483CB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2900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67C9F-0629-45B2-B622-12B1B79E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290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94D67-4EDB-4586-9C9C-D5A84C7C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Applications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A083C-C321-4EA2-B1C0-F38E5B65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ERP, portals, CRMs, custom apps, and middleware do not always share a common architecture.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83FE7-1A0E-403A-9F45-F676BFB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2E390-11FC-48BB-8249-9CDF7FF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89A"/>
          </a:solidFill>
          <a:ln xmlns:a="http://schemas.openxmlformats.org/drawingml/2006/main" w="0">
            <a:solidFill>
              <a:srgbClr val="83B8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9612A-D1E4-44B9-BD4A-A911A666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00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4EAFF-3392-4C8C-A75D-D09AA5F3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624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Operational data exists, but it is often trapped, duplicated, or too late for decisions.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08045-CBAB-4D04-A1E3-B2480EE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DD2C0-6090-445F-B007-A3E8AAD5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41353-1D85-4538-8005-F8065D65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71D91-1A85-4BFE-B632-D4B532D5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AI creates value only when it is connected to process, data, security, and user adoption.</a:t>
            </a:r>
          </a:p>
        </p:txBody>
      </p:sp>
    </p:spTree>
    <p:extLst>
      <p:ext uri="{BB962C8B-B14F-4D97-AF65-F5344CB8AC3E}">
        <p14:creationId xmlns:p14="http://schemas.microsoft.com/office/powerpoint/2010/main" val="689182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C569A-6EF4-42A0-A49A-07A43FC5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4F62B-B596-4FC1-AC18-EB1992D1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0094-79C5-47C4-BE61-51058A45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BB9CE-D34C-4025-BF22-0B4B328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22A3E-B5ED-4D3D-9871-4F7499D4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5418B-2962-4A0D-AB6C-3B709AC5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C79F0-930D-4E4A-8DC7-11D02EC3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0C988-FADC-46AE-8081-F98ACEEA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WHAT WE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22CBF-29E6-4069-89EC-142E8AE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10EF4-01B0-4971-8930-63D51F0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A connected operating layer around the enterprise core.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5AFC9-1F50-43C2-9179-105D327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Thread &amp; Core designs and builds the extensions, workflows, integrations, data flows, and intelligent experiences that make the core usable across the business.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B4076-59EE-4B4A-A48E-6F769A7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717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00A"/>
          </a:solidFill>
          <a:ln xmlns:a="http://schemas.openxmlformats.org/drawingml/2006/main" w="19050">
            <a:solidFill>
              <a:srgbClr val="D8A8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6EFBD-F05E-4E05-BC3E-CCE9CBC8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0E7"/>
                </a:solidFill>
              </a:defRPr>
            </a:pPr>
            <a:r>
              <a:rPr sz="1800" b="1">
                <a:solidFill>
                  <a:srgbClr val="F5F0E7"/>
                </a:solidFill>
              </a:rPr>
              <a:t>ERP</a:t>
            </a:r>
          </a:p>
          <a:p xmlns:a="http://schemas.openxmlformats.org/drawingml/2006/main">
            <a:pPr>
              <a:defRPr sz="1800" b="1">
                <a:solidFill>
                  <a:srgbClr val="F5F0E7"/>
                </a:solidFill>
              </a:defRPr>
            </a:pPr>
            <a:r>
              <a:rPr sz="1800" b="1">
                <a:solidFill>
                  <a:srgbClr val="F5F0E7"/>
                </a:solidFill>
              </a:rPr>
              <a:t>Digital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37ACA-1B26-44B5-A60B-42CC1EFA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-2362200" cy="-1076325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A8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AF03A-F0FE-4E9E-8AF8-76F05E39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D8A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206B5-9484-400A-9C09-55D4602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050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0E7"/>
                </a:solidFill>
              </a:defRPr>
            </a:pPr>
            <a:r>
              <a:rPr sz="1200" b="1">
                <a:solidFill>
                  <a:srgbClr val="F5F0E7"/>
                </a:solidFill>
              </a:rPr>
              <a:t>Apps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6D711-BEEC-4EA6-9BEF-52E5953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-800100" cy="-1838325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A8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F9654-36B8-45A5-8AD4-797FC05D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287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D8A8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B8C76-7A3D-4D02-8FF9-24BDCF97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4305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0E7"/>
                </a:solidFill>
              </a:defRPr>
            </a:pPr>
            <a:r>
              <a:rPr sz="1200" b="1">
                <a:solidFill>
                  <a:srgbClr val="F5F0E7"/>
                </a:solidFill>
              </a:rPr>
              <a:t>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63A82-66B1-4FF7-95A9-CAF839E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209675" cy="-1743075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A8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9E24B-6F6E-45EB-AF35-7D1EDCC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D8A8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BD90B-5241-4F74-B269-29F5670D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38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0E7"/>
                </a:solidFill>
              </a:defRPr>
            </a:pPr>
            <a:r>
              <a:rPr sz="1200" b="1">
                <a:solidFill>
                  <a:srgbClr val="F5F0E7"/>
                </a:solidFill>
              </a:rP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43C36-AA69-4DD2-8A5E-E472453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590800" cy="-409575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83D77-6F66-48EF-BA71-F16A63DE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4C7D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4CC49-93BD-466E-B798-8E7FCAF0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718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0E7"/>
                </a:solidFill>
              </a:defRPr>
            </a:pPr>
            <a:r>
              <a:rPr sz="1200" b="1">
                <a:solidFill>
                  <a:srgbClr val="F5F0E7"/>
                </a:solidFill>
              </a:rPr>
              <a:t>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A4A6E-19BD-49AD-948A-6E83E02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828800" cy="1419225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A8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B3E2F-292A-452F-BAF8-67232ADC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863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D8A8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14BC4-E6A2-4000-A641-6240478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0E7"/>
                </a:solidFill>
              </a:defRPr>
            </a:pPr>
            <a:r>
              <a:rPr sz="1200" b="1">
                <a:solidFill>
                  <a:srgbClr val="F5F0E7"/>
                </a:solidFill>
              </a:rPr>
              <a:t>Automation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4A1F92-6A82-4472-B75D-12CA9BE1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-1123950" cy="1495425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A8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6E08DC-5966-4936-B901-8925297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D8A8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E434D3-5A60-4F4B-9FEC-CB0111E7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0E7"/>
                </a:solidFill>
              </a:defRPr>
            </a:pPr>
            <a:r>
              <a:rPr sz="1200" b="1">
                <a:solidFill>
                  <a:srgbClr val="F5F0E7"/>
                </a:solidFill>
              </a:rPr>
              <a:t>UX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A31EDF-1182-44DD-AC07-9381BA84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857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5B76BB-32C9-430C-8D59-907749CE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EBEBDF-CE18-4B2E-B359-8B49F3E8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3438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Plain business meaning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7152B9-DC1F-4818-A733-0FBF66F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3438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We help the systems that run your business talk to each other, automate work, expose better information, and support decisions without breaking the ERP core.</a:t>
            </a:r>
          </a:p>
        </p:txBody>
      </p:sp>
    </p:spTree>
    <p:extLst>
      <p:ext uri="{BB962C8B-B14F-4D97-AF65-F5344CB8AC3E}">
        <p14:creationId xmlns:p14="http://schemas.microsoft.com/office/powerpoint/2010/main" val="237918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96695-CCE6-4BD4-843C-021C57BB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AEBD-E972-419B-AD16-61AC9F7D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66CD0-16D8-459F-B803-AE388F73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588F2-CAA1-49B5-B3DA-8A36384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FBD17-3FD1-4A03-9532-111B349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1CEA-A33D-45EE-B169-FD4764EF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FBE2F-EA8F-4092-B69F-552B9118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17CB3-5A9B-48B8-AB2A-461E780F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CAPABILITY PILLARS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30A05-E1EC-40ED-B211-31DA6CBA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4F984-312F-4D37-8485-61CE038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Five capabilities. One architecture.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1F60F-2613-4F15-86C1-1A46017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These are the service pillars prospects should understand quickly.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66C11-F8F9-4920-BE01-3C4F2537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15BB0-C021-4974-9546-482A0F6A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F0CA1-3566-44CE-9076-68B73580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ERP Extensions and Clean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C6809-8FB2-4333-88DB-D3CEDB78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SAP BTP, CAP, Fiori/UI5, side-by-side extensions, S/4HANA-aligned modernization.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F87EF-A785-45B0-8618-87C305FE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104EE-51D2-4C26-8ED5-BFC4018F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FE718-74E8-4937-9584-FABE2A06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14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Enterprise Integration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E8216-CEC7-46CB-BFE9-68FA6304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APIs, events, middleware, BTP Integration Suite patterns, and application connectivity.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4ECBF-6E69-483A-8836-D92DB52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80C97-6EE9-4B47-BC86-1038CD2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89A"/>
          </a:solidFill>
          <a:ln xmlns:a="http://schemas.openxmlformats.org/drawingml/2006/main" w="0">
            <a:solidFill>
              <a:srgbClr val="83B8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5EDC7-6B15-45E3-AB7E-3C0DDE8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Workflow and Automation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2B225-16E3-4D12-83F5-B26E5493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7665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Approvals, operational apps, PO-to-SO flows, process automation, and task orchestration.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44DB2-CF00-4C75-BB78-389F714A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71BD7-34EF-4AD5-94E3-DA156267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1E723-F2E6-454A-99E4-D86EBDB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AI and Data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E8D450-BB02-4EA4-ABF0-6BD41CD1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Practical AI, GenAI, RAG, vector search, analytics, and decision-support experiences.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56B44-2A49-4F12-A210-632F5A2B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C9668-664D-4F03-AC65-753DDFDE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C257E7-C1A8-4279-804D-5896988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Full-stack Enterprise Applications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9B867-D5B7-4B44-BD74-AD88F7B3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054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React, Node.js, MongoDB, HANA Cloud, cloud-native portals, dashboards, and admin tools.</a:t>
            </a:r>
          </a:p>
        </p:txBody>
      </p:sp>
    </p:spTree>
    <p:extLst>
      <p:ext uri="{BB962C8B-B14F-4D97-AF65-F5344CB8AC3E}">
        <p14:creationId xmlns:p14="http://schemas.microsoft.com/office/powerpoint/2010/main" val="906049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F6991-715C-4FA6-AA62-37CB514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EA264-604B-47AC-8AAB-8C784AC7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F23C5-9AD9-4030-9C12-DCD0E963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48939-938E-4AF4-89D1-F11A523C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D0A96-C64C-49FF-B3EB-D7D8C02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4250D-E322-434E-B154-8627408B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A99F0-7344-40DE-B6E3-391F8CA2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90065-2171-4FC8-904C-A8B9F536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THREAD &amp; CORE FRAMEWORK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9B157-E18E-4428-BD85-D4B8C2E5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47352-4A6E-4AA9-BD09-86B7E94C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From scattered systems to connected enterprise architecture.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D4FB3-3593-436E-B165-792A3F04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A practical five-step framework for discovery, design, build, automation, and scale.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65E9E-AA5E-4ACB-B23F-3C8EE29C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10B"/>
          </a:solidFill>
          <a:ln xmlns:a="http://schemas.openxmlformats.org/drawingml/2006/main" w="19050">
            <a:solidFill>
              <a:srgbClr val="D8A8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90D25-DA1D-4327-8508-C2FF1D56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A85A"/>
                </a:solidFill>
              </a:defRPr>
            </a:pPr>
            <a:r>
              <a:rPr sz="1350" b="1">
                <a:solidFill>
                  <a:srgbClr val="D8A85A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DC594-6B7E-4763-BBE8-E946F4BA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12573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4034E-8E99-4005-B7A1-E5C999B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0E7"/>
                </a:solidFill>
              </a:defRPr>
            </a:pPr>
            <a:r>
              <a:rPr sz="1500" b="1">
                <a:solidFill>
                  <a:srgbClr val="F5F0E7"/>
                </a:solidFill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0A93A-3A65-4DF8-B44C-F6F729EC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B8B0A4"/>
                </a:solidFill>
              </a:defRPr>
            </a:pPr>
            <a:r>
              <a:rPr sz="938">
                <a:solidFill>
                  <a:srgbClr val="B8B0A4"/>
                </a:solidFill>
              </a:rPr>
              <a:t>Map processes, systems, users, data flows, pain points, and value leakage.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DEFEF-7449-4455-B101-714C3339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10B"/>
          </a:solidFill>
          <a:ln xmlns:a="http://schemas.openxmlformats.org/drawingml/2006/main" w="19050">
            <a:solidFill>
              <a:srgbClr val="D8A8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76206-07D2-4AFE-A280-5129019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99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A85A"/>
                </a:solidFill>
              </a:defRPr>
            </a:pPr>
            <a:r>
              <a:rPr sz="1350" b="1">
                <a:solidFill>
                  <a:srgbClr val="D8A85A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7398A-5D96-4CCB-9896-9540EB19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3800"/>
            <a:ext cx="12573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DE7B2-1DA8-4B86-8946-40F026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6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0E7"/>
                </a:solidFill>
              </a:defRPr>
            </a:pPr>
            <a:r>
              <a:rPr sz="1500" b="1">
                <a:solidFill>
                  <a:srgbClr val="F5F0E7"/>
                </a:solidFill>
              </a:rPr>
              <a:t>Connect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EBCF0-AD26-48FF-A170-FEB0FC8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291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B8B0A4"/>
                </a:solidFill>
              </a:defRPr>
            </a:pPr>
            <a:r>
              <a:rPr sz="938">
                <a:solidFill>
                  <a:srgbClr val="B8B0A4"/>
                </a:solidFill>
              </a:rPr>
              <a:t>Define the architecture linking ERP, apps, integrations, workflows, and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714C7-B325-4F34-8407-0B7210DB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10B"/>
          </a:solidFill>
          <a:ln xmlns:a="http://schemas.openxmlformats.org/drawingml/2006/main" w="19050">
            <a:solidFill>
              <a:srgbClr val="D8A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589E9-05BD-4F09-80B7-234CA37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99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A85A"/>
                </a:solidFill>
              </a:defRPr>
            </a:pPr>
            <a:r>
              <a:rPr sz="1350" b="1">
                <a:solidFill>
                  <a:srgbClr val="D8A85A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7CE2B-16E3-4E0F-9871-E451A02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12573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5E630-B9E6-40CA-B1FC-6930140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0E7"/>
                </a:solidFill>
              </a:defRPr>
            </a:pPr>
            <a:r>
              <a:rPr sz="1500" b="1">
                <a:solidFill>
                  <a:srgbClr val="F5F0E7"/>
                </a:solidFill>
              </a:rPr>
              <a:t>Modernize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11B66-13FC-4F23-B035-B99DCC55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B8B0A4"/>
                </a:solidFill>
              </a:defRPr>
            </a:pPr>
            <a:r>
              <a:rPr sz="938">
                <a:solidFill>
                  <a:srgbClr val="B8B0A4"/>
                </a:solidFill>
              </a:rPr>
              <a:t>Build clean extensions and experiences without damaging the digital core.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0B932-80B3-48A3-8B75-89CA1829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10B"/>
          </a:solidFill>
          <a:ln xmlns:a="http://schemas.openxmlformats.org/drawingml/2006/main" w="19050">
            <a:solidFill>
              <a:srgbClr val="D8A8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186FE-FBAD-4BEB-827E-6269D3A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99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A85A"/>
                </a:solidFill>
              </a:defRPr>
            </a:pPr>
            <a:r>
              <a:rPr sz="1350" b="1">
                <a:solidFill>
                  <a:srgbClr val="D8A85A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29A99-BDE3-471D-B031-A0268046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12573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4C7D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94E3A7-26E1-4421-BD71-A5835E10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6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0E7"/>
                </a:solidFill>
              </a:defRPr>
            </a:pPr>
            <a:r>
              <a:rPr sz="1500" b="1">
                <a:solidFill>
                  <a:srgbClr val="F5F0E7"/>
                </a:solidFill>
              </a:rPr>
              <a:t>Automate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BF2F0-71D3-4D95-9014-4F347AFE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B8B0A4"/>
                </a:solidFill>
              </a:defRPr>
            </a:pPr>
            <a:r>
              <a:rPr sz="938">
                <a:solidFill>
                  <a:srgbClr val="B8B0A4"/>
                </a:solidFill>
              </a:rPr>
              <a:t>Apply automation and AI where they remove real operational friction.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CB0077-C582-4F89-9384-F11F817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10B"/>
          </a:solidFill>
          <a:ln xmlns:a="http://schemas.openxmlformats.org/drawingml/2006/main" w="19050">
            <a:solidFill>
              <a:srgbClr val="D8A8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4533C6-4D84-417C-AAED-16639ED5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99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A85A"/>
                </a:solidFill>
              </a:defRPr>
            </a:pPr>
            <a:r>
              <a:rPr sz="1350" b="1">
                <a:solidFill>
                  <a:srgbClr val="D8A85A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1DE084-DE8E-4715-B7EE-D93783EB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0E7"/>
                </a:solidFill>
              </a:defRPr>
            </a:pPr>
            <a:r>
              <a:rPr sz="1500" b="1">
                <a:solidFill>
                  <a:srgbClr val="F5F0E7"/>
                </a:solidFill>
              </a:rPr>
              <a:t>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2A284F-DE05-4292-AEBC-3421CA67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291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B8B0A4"/>
                </a:solidFill>
              </a:defRPr>
            </a:pPr>
            <a:r>
              <a:rPr sz="938">
                <a:solidFill>
                  <a:srgbClr val="B8B0A4"/>
                </a:solidFill>
              </a:rPr>
              <a:t>Operationalize with governance, documentation, monitoring, and adoption support.</a:t>
            </a:r>
          </a:p>
        </p:txBody>
      </p:sp>
    </p:spTree>
    <p:extLst>
      <p:ext uri="{BB962C8B-B14F-4D97-AF65-F5344CB8AC3E}">
        <p14:creationId xmlns:p14="http://schemas.microsoft.com/office/powerpoint/2010/main" val="362345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B24C8E-F557-4CCC-8EC2-14DE01A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E9D18-E299-43E2-8393-18A0E053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E01DE-FE08-4E60-9DAB-9325D8CC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96E7D-96AC-464A-92F8-14EC711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BF027-427A-483E-89D7-BB0D0F7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32DB8-6989-4C26-BEFD-3B2848D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1942D-3CDD-44E8-8CA5-31EF707B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35407-33C8-4A0B-B55F-3396F96D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SAP AND CLEAN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C21F3-F5ED-4C98-8E47-862A5334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544C9-865C-48F1-A980-E938124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SAP BTP strength, with clean-core discipline.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09B8A-40CC-4EC7-A692-92516C6C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For SAP-centric enterprises, Thread &amp; Core helps extend and integrate the core without turning it into a fragile custom-code maze.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05894-1120-4A11-8DAE-4180868E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79A6C-ADF7-4816-A856-8F23CC7A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6C227-BB4A-4B0D-8778-486EF792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SAP BTP and CAP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52879-D1C1-416E-8CEF-68FE3CE2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Solution architecture, CAP services, extension patterns, HANA Cloud, security, deployment, and lifecycle thinking.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C59C1-22D0-4399-AED7-36EB8F22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E03B7-EDA2-465E-A605-8268AFC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ADE0E-2839-42ED-983F-DE0E9F0A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Fiori/UI5 and 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DE987-0008-44DB-A088-252933DA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909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Enterprise-grade user experiences for operational teams, dashboards, approvals, and self-service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0E640-20F1-4AF9-B6E3-933AD957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A8959-AD31-4EBE-9C72-D2B330F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89A"/>
          </a:solidFill>
          <a:ln xmlns:a="http://schemas.openxmlformats.org/drawingml/2006/main" w="0">
            <a:solidFill>
              <a:srgbClr val="83B8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DAE2D-A40E-4800-A33E-938AF374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Integration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E2192-0D6E-43BE-AD83-EF123251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API design, middleware patterns, Clean Core reviews, documentation, and production ownership.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93D217-1AEB-491B-9656-185014B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B0A4"/>
                </a:solidFill>
              </a:defRPr>
            </a:pPr>
            <a:r>
              <a:rPr sz="1125">
                <a:solidFill>
                  <a:srgbClr val="B8B0A4"/>
                </a:solidFill>
              </a:rPr>
              <a:t>Credential base: SAP-certified BTP Solution Architect, SAP CAP/Fiori experience, SAP instructor exposure across BTP100 and CLD200.</a:t>
            </a:r>
          </a:p>
        </p:txBody>
      </p:sp>
    </p:spTree>
    <p:extLst>
      <p:ext uri="{BB962C8B-B14F-4D97-AF65-F5344CB8AC3E}">
        <p14:creationId xmlns:p14="http://schemas.microsoft.com/office/powerpoint/2010/main" val="1077436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11C0A-71C7-4FE4-A659-1995924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6F7B6-98A1-47C4-8CB9-8ECE6A9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B9FFB-7B65-4D25-88A5-F64FE5DF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2A3CD-3BCF-4563-976E-2AED868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3FC10-4AF9-4293-9CC2-5D7651C3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B625B-61E0-4958-9D1B-4587D1FE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F7939-EA24-4FF5-9DC1-EEA3FF2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29A7D-4EAC-4A98-90E0-0CA8267A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AI, AUTOMATION, AND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286FE-F08F-43B9-96CB-E695D691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51502-087E-4688-A544-A4F4AD0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Practical AI belongs inside the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AE9A2-EEA7-4E33-9DCE-3CC99FFB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The goal is not AI theatre. The goal is faster work, fewer errors, clearer decisions, and systems people actually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C9287-F64B-4918-AAC2-635D8915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476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5C110-BF2B-4E2E-B777-41CF65FD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7FF77-70B2-477C-84DB-3A26BC06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AI Assistants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1EC44-FB9A-4EB8-82AD-3507AF67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GenAI assistants connected to enterprise context, retrieval, policies, and business 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3D038-1DBD-457D-A09C-A0C3952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2476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D8960-33CA-4B94-A392-CD791545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D9E8D-58D9-45EF-AAAC-53441D8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Document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53711-3438-443B-A1E3-40B6BA56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OCR, extraction, validation, and workflow automation for operations and commercial teams.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42705-531F-49F3-A78A-7D65D331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2476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C6294-5261-4FCA-A283-219517B6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89A"/>
          </a:solidFill>
          <a:ln xmlns:a="http://schemas.openxmlformats.org/drawingml/2006/main" w="0">
            <a:solidFill>
              <a:srgbClr val="83B8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0A3CC-8D19-44E3-862E-D8C566DE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B836A-EAF6-4D56-ADCD-856D3A7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Operational dashboards, metrics, exception views, and decision-support layers.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FFD37C-81A7-480E-A998-A9B9BFAE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2476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847DC-1CC8-458B-BD9D-D7794D0F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CA515-194E-4F01-BE05-D03F3B47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Automation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59BE3-58CC-4AF5-92DA-ACCBD953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1950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Approval flows, task routing, notifications, and integrations that remove repetitive work.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80CD9-FD7C-4B60-B21C-DEA60806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0A4"/>
                </a:solidFill>
              </a:defRPr>
            </a:pPr>
            <a:r>
              <a:rPr sz="1200">
                <a:solidFill>
                  <a:srgbClr val="B8B0A4"/>
                </a:solidFill>
              </a:rPr>
              <a:t>Best-fit use cases: procurement, sales operations, field operations, support workflows, data discovery, approval automation, and executive visibility.</a:t>
            </a:r>
          </a:p>
        </p:txBody>
      </p:sp>
    </p:spTree>
    <p:extLst>
      <p:ext uri="{BB962C8B-B14F-4D97-AF65-F5344CB8AC3E}">
        <p14:creationId xmlns:p14="http://schemas.microsoft.com/office/powerpoint/2010/main" val="284128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2CAF1-14AA-4EFC-9A83-58EDD053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BC2E2-E3E8-47B1-83F5-CB57FEA1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B633C-22F5-430F-8E6E-B4645344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C102A-FFB5-4C6B-94DA-66A17643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31946-D277-47B0-92C6-62BD110F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EBCCE-E407-4F0E-A2CF-B81C5476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0747C-D335-498E-A2A4-16180356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75881-09F1-4682-9604-6A72F44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PROOF SNAPSHOTS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302CC-989C-4BBB-B46F-BC9CF7ED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C21C0-2176-41B4-AF95-862BA88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Experience that translates into delivery confidence.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06CF0-9631-4B4E-A768-2E1E3B83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Selected examples are anonymized where confidentiality applies.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D6575-2841-4F0B-A3D9-178E4C8F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66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210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E4314-A2D9-4E08-8D81-40A8594D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A85A"/>
                </a:solidFill>
              </a:defRPr>
            </a:pPr>
            <a:r>
              <a:rPr sz="2100" b="1">
                <a:solidFill>
                  <a:srgbClr val="D8A85A"/>
                </a:solidFill>
              </a:rPr>
              <a:t>14+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61242-AB67-4DA6-9745-E050E7E4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0A4"/>
                </a:solidFill>
              </a:defRPr>
            </a:pPr>
            <a:r>
              <a:rPr sz="900">
                <a:solidFill>
                  <a:srgbClr val="B8B0A4"/>
                </a:solidFill>
              </a:rPr>
              <a:t>years enterprise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6BB62-C40D-4577-AAB9-35B988A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166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210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336A4-6107-4E66-BED7-7ED1CF5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A85A"/>
                </a:solidFill>
              </a:defRPr>
            </a:pPr>
            <a:r>
              <a:rPr sz="2100" b="1">
                <a:solidFill>
                  <a:srgbClr val="D8A85A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FF4A5-C5ED-49ED-A932-CCFFC79D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528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0A4"/>
                </a:solidFill>
              </a:defRPr>
            </a:pPr>
            <a:r>
              <a:rPr sz="900">
                <a:solidFill>
                  <a:srgbClr val="B8B0A4"/>
                </a:solidFill>
              </a:rPr>
              <a:t>regions 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8163F-8793-44D6-ABC0-94556C7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66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210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86633-F94F-438E-987B-73187F4C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A85A"/>
                </a:solidFill>
              </a:defRPr>
            </a:pPr>
            <a:r>
              <a:rPr sz="2100" b="1">
                <a:solidFill>
                  <a:srgbClr val="D8A85A"/>
                </a:solidFill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D8EE1-9CF2-4345-9B7F-F14B83A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528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0A4"/>
                </a:solidFill>
              </a:defRPr>
            </a:pPr>
            <a:r>
              <a:rPr sz="900">
                <a:solidFill>
                  <a:srgbClr val="B8B0A4"/>
                </a:solidFill>
              </a:rPr>
              <a:t>languages in rollout patterns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31CAE-7C99-49F7-AC50-F6BA0D41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166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210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C4E59-0AD2-4136-B3D3-D6967AB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A85A"/>
                </a:solidFill>
              </a:defRPr>
            </a:pPr>
            <a:r>
              <a:rPr sz="2100" b="1">
                <a:solidFill>
                  <a:srgbClr val="D8A85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CBAA2-56EF-4111-A09E-FC67E41B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0A4"/>
                </a:solidFill>
              </a:defRPr>
            </a:pPr>
            <a:r>
              <a:rPr sz="900">
                <a:solidFill>
                  <a:srgbClr val="B8B0A4"/>
                </a:solidFill>
              </a:rPr>
              <a:t>automation accuracy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9E539-EDD2-4450-A9AF-21A3548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1666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210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11EBC-1356-42D1-B956-EF44D06B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A85A"/>
                </a:solidFill>
              </a:defRPr>
            </a:pPr>
            <a:r>
              <a:rPr sz="2100" b="1">
                <a:solidFill>
                  <a:srgbClr val="D8A85A"/>
                </a:solidFill>
              </a:rPr>
              <a:t>45k+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3FB6F-0E82-4B59-9461-598F630A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528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0A4"/>
                </a:solidFill>
              </a:defRPr>
            </a:pPr>
            <a:r>
              <a:rPr sz="900">
                <a:solidFill>
                  <a:srgbClr val="B8B0A4"/>
                </a:solidFill>
              </a:rPr>
              <a:t>records handled in data-heavy flows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729D0-2290-470E-ABA9-D19CFAF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810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1458C-B3E1-471D-BA6F-E7C9CAB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949B1B-F28A-4F4C-8E21-5BE6E3A2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439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Representative experience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8F199-E48D-48DF-B90A-D8142990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4391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Field operations platforms, procurement-to-sales automation, healthcare and service workflows, AI-enabled business tools, dashboards, and enterprise portals.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A8168B-D8AF-4F9D-814F-118FB620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4810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369E6-602D-494E-A386-EFC1F176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D0D763-7D30-4F62-B13F-C8DF9E3D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439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Confidentiality note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F15DC-FC29-47BB-854C-7E3402F9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391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Public collateral avoids naming restricted client or employer references. The story focuses on problem patterns, architecture, and outcomes.</a:t>
            </a:r>
          </a:p>
        </p:txBody>
      </p:sp>
    </p:spTree>
    <p:extLst>
      <p:ext uri="{BB962C8B-B14F-4D97-AF65-F5344CB8AC3E}">
        <p14:creationId xmlns:p14="http://schemas.microsoft.com/office/powerpoint/2010/main" val="919497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B5E66-A14E-4647-977D-6A1C53FD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35593-7B4C-4B6C-8821-0F73D685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DAAFB-589C-49E4-8B65-0DBE0FD9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297C8-910C-4415-AA56-47301AE8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028B0-4FB2-4D82-9A94-2A6A9FD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E8109-077B-48FA-83FD-C04C1B27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EE031-333C-40F8-B55B-242F460F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DC2D2-6530-434C-BD00-0B545AF7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DELIVERY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6E38A-E5A4-4D36-ABDB-5E256EC3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1E393-EC24-4921-BDC0-F47F9853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Founder-led architecture. Production ownership.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A1467-C1E8-4804-8A81-47474CA6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Thread &amp; Core is designed for leaders who want clarity, accountability, and senior technical involvement from first conversation to production.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C4FBA-C638-45E1-8C78-A31890CD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048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3A03D-475F-4BF2-B6BD-7082CFC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76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B0A55-B46C-4462-9ECC-F3825B52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No sales-to-delivery drop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6A4EA-5E47-4DD3-A6E8-DC8318FB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The architect who scopes your project remains involved in the build and production outcome.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75D48-BCCD-4198-9EBC-7569EE7D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3048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EECE4-A02A-4C5F-B2BD-A0D94C4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476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89A"/>
          </a:solidFill>
          <a:ln xmlns:a="http://schemas.openxmlformats.org/drawingml/2006/main" w="0">
            <a:solidFill>
              <a:srgbClr val="83B8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532A4-9D1A-459C-8973-FCCFEE31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Clear technical judgment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31A29-9C44-4559-B739-BFC92F0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Architecture choices are explained in business terms: risk, scale, cost, maintainability, and adoption.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F5414-2818-443B-A086-8EA899C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3048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088D6-AFF3-4EBB-95DB-63C5AB9E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476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D56AE-9F33-4015-926A-DE4D33BD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90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Built for enterprise reality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3210E-5920-4F8D-B3D7-B3AC8A6D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Solutions are designed around existing ERP, users, process constraints, security, and long-term ownership.</a:t>
            </a:r>
          </a:p>
        </p:txBody>
      </p:sp>
    </p:spTree>
    <p:extLst>
      <p:ext uri="{BB962C8B-B14F-4D97-AF65-F5344CB8AC3E}">
        <p14:creationId xmlns:p14="http://schemas.microsoft.com/office/powerpoint/2010/main" val="674975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561300-060A-4518-8B1F-C2E7862F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EE1A3-0F56-4D43-ABFD-B2A8F93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6CB36-66B1-4203-B757-7B94FDAF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C76D9-FA8E-49F8-B52A-187D0B32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31B06-CD00-42B0-91FB-B865195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4F899-9693-406C-BCF1-C0979C3D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E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CAB5-68B1-4AFF-BC18-327C15AB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096500" cy="3429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88094-E79D-43FD-B07F-8EFE909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A85A"/>
                </a:solidFill>
              </a:defRPr>
            </a:pPr>
            <a:r>
              <a:rPr sz="900" b="1">
                <a:solidFill>
                  <a:srgbClr val="D8A85A"/>
                </a:solidFill>
              </a:rPr>
              <a:t>HOW TO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AF8F-4000-4EC6-A2C6-A1FE942C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80DE7-3657-4490-997E-68E4604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0E7"/>
                </a:solidFill>
              </a:defRPr>
            </a:pPr>
            <a:r>
              <a:rPr sz="3000" b="1">
                <a:solidFill>
                  <a:srgbClr val="F5F0E7"/>
                </a:solidFill>
              </a:rPr>
              <a:t>Start with one business problem worth connecting.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68B3B-0BD4-42EB-BAFF-E3CE591D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B0A4"/>
                </a:solidFill>
              </a:defRPr>
            </a:pPr>
            <a:r>
              <a:rPr sz="1350">
                <a:solidFill>
                  <a:srgbClr val="B8B0A4"/>
                </a:solidFill>
              </a:rPr>
              <a:t>A good first engagement is specific enough to deliver value quickly and important enough to reveal the larger architecture.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72064-16EA-418D-8E4A-DF8F5BB9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69DE3-2CE1-4B29-BE4B-52DD3A96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3DD21-AFD8-4794-9171-F758A113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Architecture Diagnostic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2DC7F-AF74-436B-B745-FFBD23E4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2-3 week assessment of systems, process gaps, integration risk, and roadmap options.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E2335-0CB3-4076-94B9-8C804569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78F01-B9D4-44D4-8847-D2612902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C2"/>
          </a:solidFill>
          <a:ln xmlns:a="http://schemas.openxmlformats.org/drawingml/2006/main" w="0">
            <a:solidFill>
              <a:srgbClr val="4C7D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29F7D-9A3A-43C0-BDF5-0DF67234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Focused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0149B-06F2-4E14-A80B-58063EC6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One workflow, integration, dashboard, AI assistant, or SAP BTP extension.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FAC3D-066E-4EF5-994D-2B3ADEE5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B3787-DD09-4AFE-9B43-6DFB09F3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89A"/>
          </a:solidFill>
          <a:ln xmlns:a="http://schemas.openxmlformats.org/drawingml/2006/main" w="0">
            <a:solidFill>
              <a:srgbClr val="83B8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373F0-D722-40A7-AE24-15339B8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Modernization Roadmap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FB349-6CB8-4B24-802C-D81085DF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Plan for Clean Core, BTP adoption, automation, data, and phased delivery.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B4BBC-A262-461E-8D72-7908B22B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9525">
            <a:solidFill>
              <a:srgbClr val="2A3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7224F-1B21-49A4-B038-D9935523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5A"/>
          </a:solidFill>
          <a:ln xmlns:a="http://schemas.openxmlformats.org/drawingml/2006/main" w="0">
            <a:solidFill>
              <a:srgbClr val="D8A8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6BFE9-53E8-4630-BA7D-C257512E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Build Partnership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33170-0E5E-4C03-9C89-F6712E18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B8B0A4"/>
                </a:solidFill>
              </a:defRPr>
            </a:pPr>
            <a:r>
              <a:rPr sz="1013">
                <a:solidFill>
                  <a:srgbClr val="B8B0A4"/>
                </a:solidFill>
              </a:rPr>
              <a:t>Founder-led implementation of enterprise apps, workflows, integrations, and AI-enabled systems.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710DE-7947-46C7-88C2-CB6EDA1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0E7"/>
                </a:solidFill>
              </a:defRPr>
            </a:pPr>
            <a:r>
              <a:rPr sz="1350" b="1">
                <a:solidFill>
                  <a:srgbClr val="F5F0E7"/>
                </a:solidFill>
              </a:rPr>
              <a:t>Website: threadandcore.com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C2D13-57E9-4E6E-90AD-2AA111F3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B0A4"/>
                </a:solidFill>
              </a:defRPr>
            </a:pPr>
            <a:r>
              <a:rPr sz="1125">
                <a:solidFill>
                  <a:srgbClr val="B8B0A4"/>
                </a:solidFill>
              </a:rPr>
              <a:t>Email: contact@threadandcore.com | Prashant.Agarwal@threadandcore.com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96F25-88D9-40CE-87FE-195FC7F0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B0A4"/>
                </a:solidFill>
              </a:defRPr>
            </a:pPr>
            <a:r>
              <a:rPr sz="1125">
                <a:solidFill>
                  <a:srgbClr val="B8B0A4"/>
                </a:solidFill>
              </a:rPr>
              <a:t>LinkedIn: linkedin.com/in/agarawal-prashant</a:t>
            </a:r>
          </a:p>
        </p:txBody>
      </p:sp>
    </p:spTree>
    <p:extLst>
      <p:ext uri="{BB962C8B-B14F-4D97-AF65-F5344CB8AC3E}">
        <p14:creationId xmlns:p14="http://schemas.microsoft.com/office/powerpoint/2010/main" val="1749973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2026-07-08T11:30:45.3550000Z</dcterms:created>
  <dcterms:modified xsi:type="dcterms:W3CDTF">2026-07-08T11:30:45.3550000Z</dcterms:modified>
</coreProperties>
</file>