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1005840"/>
            <a:ext cx="12740335" cy="0"/>
          </a:xfrm>
          <a:prstGeom prst="line">
            <a:avLst/>
          </a:prstGeom>
          <a:noFill/>
          <a:ln w="9525">
            <a:solidFill>
              <a:srgbClr val="D99A4E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383280"/>
            <a:ext cx="12740335" cy="0"/>
          </a:xfrm>
          <a:prstGeom prst="line">
            <a:avLst/>
          </a:prstGeom>
          <a:noFill/>
          <a:ln w="9525">
            <a:solidFill>
              <a:srgbClr val="D99A4E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5760720"/>
            <a:ext cx="12740335" cy="0"/>
          </a:xfrm>
          <a:prstGeom prst="line">
            <a:avLst/>
          </a:prstGeom>
          <a:noFill/>
          <a:ln w="9525">
            <a:solidFill>
              <a:srgbClr val="D99A4E">
                <a:alpha val="8000"/>
              </a:srgbClr>
            </a:solidFill>
            <a:prstDash val="solid"/>
          </a:ln>
        </p:spPr>
      </p:sp>
      <p:pic>
        <p:nvPicPr>
          <p:cNvPr id="5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658368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8745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</a:t>
            </a:r>
            <a:pPr algn="ctr" indent="0" marL="0">
              <a:buNone/>
            </a:pPr>
            <a:r>
              <a:rPr lang="en-US" sz="4000" b="1" dirty="0">
                <a:solidFill>
                  <a:srgbClr val="D9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ctr" indent="0" marL="0">
              <a:buNone/>
            </a:pPr>
            <a:r>
              <a:rPr lang="en-US" sz="40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257860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9AA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Y S T E M 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0" y="32918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 DECK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23848" y="3703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for the Connected Enterprise.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523848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Every Thread to the Core.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THREADANDCORE.COM   ·   PUNE, 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1005840"/>
            <a:ext cx="12740335" cy="0"/>
          </a:xfrm>
          <a:prstGeom prst="line">
            <a:avLst/>
          </a:prstGeom>
          <a:noFill/>
          <a:ln w="9525">
            <a:solidFill>
              <a:srgbClr val="D99A4E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383280"/>
            <a:ext cx="12740335" cy="0"/>
          </a:xfrm>
          <a:prstGeom prst="line">
            <a:avLst/>
          </a:prstGeom>
          <a:noFill/>
          <a:ln w="9525">
            <a:solidFill>
              <a:srgbClr val="D99A4E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5760720"/>
            <a:ext cx="12740335" cy="0"/>
          </a:xfrm>
          <a:prstGeom prst="line">
            <a:avLst/>
          </a:prstGeom>
          <a:noFill/>
          <a:ln w="9525">
            <a:solidFill>
              <a:srgbClr val="D99A4E">
                <a:alpha val="8000"/>
              </a:srgbClr>
            </a:solidFill>
            <a:prstDash val="solid"/>
          </a:ln>
        </p:spPr>
      </p:sp>
      <p:pic>
        <p:nvPicPr>
          <p:cNvPr id="5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1259007" y="3657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BELIEF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doesn't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businesses.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does.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40690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enterprise runs on invisible threads: processes, applications, data, people, and intelligence. We help connect those threads to the core, creating systems that scale, adapt, and endure.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52578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IS WHY THREAD &amp; CORE EXISTS.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&amp; CORE SYSTEMS PVT LTD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  ·  THREADANDCORE.COM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1259007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WE DO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systems we architect.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36192"/>
            <a:ext cx="384048" cy="384048"/>
          </a:xfrm>
          <a:prstGeom prst="ellipse">
            <a:avLst/>
          </a:prstGeom>
          <a:solidFill>
            <a:srgbClr val="0C0F16"/>
          </a:solidFill>
          <a:ln w="15875">
            <a:solidFill>
              <a:srgbClr val="D99A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3000" y="14813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Extensions &amp; Enterprise Integration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989320" y="148132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Extensions, workflows, and side-by-side applications on a clean ERP core, plus the APIs that connect them.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313432"/>
            <a:ext cx="11094415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0C0F16"/>
          </a:solidFill>
          <a:ln w="15875">
            <a:solidFill>
              <a:srgbClr val="D99A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" y="241401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Intelligent Automation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989320" y="241401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Forecasting, copilots, RAG, and workflow automation — deployed where they remove real work.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11094415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401568"/>
            <a:ext cx="384048" cy="384048"/>
          </a:xfrm>
          <a:prstGeom prst="ellipse">
            <a:avLst/>
          </a:prstGeom>
          <a:solidFill>
            <a:srgbClr val="0C0F16"/>
          </a:solidFill>
          <a:ln w="15875">
            <a:solidFill>
              <a:srgbClr val="D99A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3000" y="334670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Enterprise Platforms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989320" y="334670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and mobile platforms teams run the business on — offline-first, multilingual, enterprise-secure.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178808"/>
            <a:ext cx="11094415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4334256"/>
            <a:ext cx="384048" cy="384048"/>
          </a:xfrm>
          <a:prstGeom prst="ellipse">
            <a:avLst/>
          </a:prstGeom>
          <a:solidFill>
            <a:srgbClr val="0C0F16"/>
          </a:solidFill>
          <a:ln w="15875">
            <a:solidFill>
              <a:srgbClr val="D99A4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43000" y="42793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989320" y="4279392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enterprise data turned into dashboards and decision intelligence, system health to migration readiness.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111496"/>
            <a:ext cx="11094415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5266944"/>
            <a:ext cx="384048" cy="384048"/>
          </a:xfrm>
          <a:prstGeom prst="ellipse">
            <a:avLst/>
          </a:prstGeom>
          <a:solidFill>
            <a:srgbClr val="0C0F16"/>
          </a:solidFill>
          <a:ln w="15875">
            <a:solidFill>
              <a:srgbClr val="D99A4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43000" y="5212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Solution Architecture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5989320" y="521208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study, DPRs, and functional specs that make delivery predictable — then built by the same team.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&amp; CORE SYSTEMS PVT LTD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  ·  THREADANDCORE.COM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1259007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FRAMEWORK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built from real enterprise delivery.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984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phases. One continuous method — from a single extension to a multi-region programme.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" y="2331720"/>
            <a:ext cx="10332720" cy="0"/>
          </a:xfrm>
          <a:prstGeom prst="line">
            <a:avLst/>
          </a:prstGeom>
          <a:noFill/>
          <a:ln w="19050">
            <a:solidFill>
              <a:srgbClr val="D99A4E">
                <a:alpha val="7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9264" y="2249424"/>
            <a:ext cx="164592" cy="164592"/>
          </a:xfrm>
          <a:prstGeom prst="ellipse">
            <a:avLst/>
          </a:prstGeom>
          <a:solidFill>
            <a:srgbClr val="0C0F16"/>
          </a:solidFill>
          <a:ln w="19050">
            <a:solidFill>
              <a:srgbClr val="D99A4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" y="2587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0020" y="29352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cannot fail?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6002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 the business core.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980944" y="2249424"/>
            <a:ext cx="164592" cy="164592"/>
          </a:xfrm>
          <a:prstGeom prst="ellipse">
            <a:avLst/>
          </a:prstGeom>
          <a:solidFill>
            <a:srgbClr val="0C0F16"/>
          </a:solidFill>
          <a:ln w="19050">
            <a:solidFill>
              <a:srgbClr val="D99A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71700" y="2587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171700" y="29352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the gaps?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7170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the enterprise threads.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992624" y="2249424"/>
            <a:ext cx="164592" cy="164592"/>
          </a:xfrm>
          <a:prstGeom prst="ellipse">
            <a:avLst/>
          </a:prstGeom>
          <a:solidFill>
            <a:srgbClr val="0C0F16"/>
          </a:solidFill>
          <a:ln w="19050">
            <a:solidFill>
              <a:srgbClr val="D99A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83380" y="2587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183380" y="29352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be rebuilt?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18338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Strengthen the architecture.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004304" y="2249424"/>
            <a:ext cx="164592" cy="164592"/>
          </a:xfrm>
          <a:prstGeom prst="ellipse">
            <a:avLst/>
          </a:prstGeom>
          <a:solidFill>
            <a:srgbClr val="0C0F16"/>
          </a:solidFill>
          <a:ln w="19050">
            <a:solidFill>
              <a:srgbClr val="D99A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5060" y="2587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195060" y="29352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run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humans?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19506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 intelligence.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9015984" y="2249424"/>
            <a:ext cx="164592" cy="164592"/>
          </a:xfrm>
          <a:prstGeom prst="ellipse">
            <a:avLst/>
          </a:prstGeom>
          <a:solidFill>
            <a:srgbClr val="0C0F16"/>
          </a:solidFill>
          <a:ln w="19050">
            <a:solidFill>
              <a:srgbClr val="D99A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06740" y="2587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06740" y="29352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it survive change?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20674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resilient systems.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0817352" y="2130552"/>
            <a:ext cx="402336" cy="402336"/>
          </a:xfrm>
          <a:prstGeom prst="ellipse">
            <a:avLst/>
          </a:prstGeom>
          <a:solidFill>
            <a:srgbClr val="D99A4E"/>
          </a:solidFill>
          <a:ln w="12700">
            <a:solidFill>
              <a:srgbClr val="F0C98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561320" y="1764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6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&amp; CORE SYSTEMS PVT LTD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  ·  THREADANDCORE.COM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1259007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TRACK RECORD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 behind the practice.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D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system referenced below was architected and delivered by our founder — through senior enterprise roles and independent product builds — before Thread &amp; Core existed. This is not the company's client portfolio; it is the delivery experience the practice is built 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0C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154680" y="2148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0C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15468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60720" y="2148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0C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→ 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76072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TO ONE CLICK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66760" y="2148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0C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36676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 CLASSIFIED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11094415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ENGAGEMENTS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3931920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Operations Intelligence Platform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224528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Mining &amp; Explosives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095848" y="3931920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PO-to-SO Automation Pipeline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95848" y="4224528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Manufacturing &amp; Supply Chain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8640" y="4498848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CareFlow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791456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Healthcare — US practices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095848" y="4498848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AyurVaidya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95848" y="4791456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Ayurveda &amp; AYUSH Institutions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48640" y="5065776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Core Assessment Dashboard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5358384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Analytics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095848" y="5065776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StockSense AI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95848" y="5358384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 Chain Intelligence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&amp; CORE SYSTEMS PVT LTD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  ·  THREADANDCORE.COM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1259007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WHERE WE'VE DELIVERED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engagement is anchored in the business.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02154" cy="1417320"/>
          </a:xfrm>
          <a:prstGeom prst="rect">
            <a:avLst/>
          </a:prstGeom>
          <a:solidFill>
            <a:srgbClr val="131722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2286000"/>
            <a:ext cx="22729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&amp; Explosives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79394" y="1600200"/>
            <a:ext cx="2602154" cy="1417320"/>
          </a:xfrm>
          <a:prstGeom prst="rect">
            <a:avLst/>
          </a:prstGeom>
          <a:solidFill>
            <a:srgbClr val="131722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43986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543986" y="2286000"/>
            <a:ext cx="22729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0148" y="1600200"/>
            <a:ext cx="2602154" cy="1417320"/>
          </a:xfrm>
          <a:prstGeom prst="rect">
            <a:avLst/>
          </a:prstGeom>
          <a:solidFill>
            <a:srgbClr val="131722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474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74740" y="2286000"/>
            <a:ext cx="22729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&amp; Pharma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040901" y="1600200"/>
            <a:ext cx="2602154" cy="1417320"/>
          </a:xfrm>
          <a:prstGeom prst="rect">
            <a:avLst/>
          </a:prstGeom>
          <a:solidFill>
            <a:srgbClr val="131722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05493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205493" y="2286000"/>
            <a:ext cx="22729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&amp; Supply Chain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246120"/>
            <a:ext cx="2602154" cy="1417320"/>
          </a:xfrm>
          <a:prstGeom prst="rect">
            <a:avLst/>
          </a:prstGeom>
          <a:solidFill>
            <a:srgbClr val="131722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3232" y="3931920"/>
            <a:ext cx="22729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79394" y="3246120"/>
            <a:ext cx="2602154" cy="1417320"/>
          </a:xfrm>
          <a:prstGeom prst="rect">
            <a:avLst/>
          </a:prstGeom>
          <a:solidFill>
            <a:srgbClr val="131722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43986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543986" y="3931920"/>
            <a:ext cx="22729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Talent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10148" y="3246120"/>
            <a:ext cx="2602154" cy="1417320"/>
          </a:xfrm>
          <a:prstGeom prst="rect">
            <a:avLst/>
          </a:prstGeom>
          <a:solidFill>
            <a:srgbClr val="131722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7474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74740" y="3931920"/>
            <a:ext cx="22729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040901" y="3246120"/>
            <a:ext cx="2602154" cy="1417320"/>
          </a:xfrm>
          <a:prstGeom prst="rect">
            <a:avLst/>
          </a:prstGeom>
          <a:solidFill>
            <a:srgbClr val="131722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05493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205493" y="3931920"/>
            <a:ext cx="22729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Veterinary &amp; Pet Health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&amp; CORE SYSTEMS PVT LTD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  ·  THREADANDCORE.COM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1259007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THE ARCHITECT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914400"/>
            <a:ext cx="3566160" cy="5394960"/>
          </a:xfrm>
          <a:prstGeom prst="rect">
            <a:avLst/>
          </a:prstGeom>
          <a:solidFill>
            <a:srgbClr val="131722"/>
          </a:solidFill>
          <a:ln w="9525">
            <a:solidFill>
              <a:srgbClr val="232A3A"/>
            </a:solidFill>
            <a:prstDash val="solid"/>
          </a:ln>
        </p:spPr>
      </p:sp>
      <p:pic>
        <p:nvPicPr>
          <p:cNvPr id="5" name="Image 1" descr="/Users/kunjamaggarwal/Documents/Thread-And-Core-website-Fable5/public/prasha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1005840" cy="1005840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Prashant Agarwal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6868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linkedin.com/in/agarawal-prashant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68680" y="3200400"/>
            <a:ext cx="2926080" cy="0"/>
          </a:xfrm>
          <a:prstGeom prst="line">
            <a:avLst/>
          </a:prstGeom>
          <a:noFill/>
          <a:ln w="6350">
            <a:solidFill>
              <a:srgbClr val="232A3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32735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CERTIFIED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68680" y="34655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CAP · SAP Fiori · SAP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(BTP100, CLD200)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68680" y="3785616"/>
            <a:ext cx="2926080" cy="0"/>
          </a:xfrm>
          <a:prstGeom prst="line">
            <a:avLst/>
          </a:prstGeom>
          <a:noFill/>
          <a:ln w="6350">
            <a:solidFill>
              <a:srgbClr val="232A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38587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68680" y="4050792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BTP, AI, cloud, full-stack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68680" y="4224528"/>
            <a:ext cx="2926080" cy="0"/>
          </a:xfrm>
          <a:prstGeom prst="line">
            <a:avLst/>
          </a:prstGeom>
          <a:noFill/>
          <a:ln w="6350">
            <a:solidFill>
              <a:srgbClr val="232A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2976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ONSITE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868680" y="44897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Australia, Germany &amp; India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6350">
            <a:solidFill>
              <a:srgbClr val="232A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47365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68680" y="4928616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14+ years enterprise delivery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68680" y="5102352"/>
            <a:ext cx="2926080" cy="0"/>
          </a:xfrm>
          <a:prstGeom prst="line">
            <a:avLst/>
          </a:prstGeom>
          <a:noFill/>
          <a:ln w="6350">
            <a:solidFill>
              <a:srgbClr val="232A3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8680" y="51755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INDUSTRIES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68680" y="5367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Mining, Manufacturing, Oil &amp; Gas,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HR, Analytics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617720" y="914400"/>
            <a:ext cx="7025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 </a:t>
            </a:r>
            <a:pPr indent="0" marL="0">
              <a:buNone/>
            </a:pPr>
            <a:r>
              <a:rPr lang="en-US" sz="22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Thread &amp; Core Systems.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617720" y="1783080"/>
            <a:ext cx="7025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 who scopes your project is the one who builds it.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4617720" y="2514600"/>
            <a:ext cx="70253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&amp; Core is led by Prashant Agarwal, an SAP-certified BTP Solution Architect with 14+ years of enterprise technology delivery across SAP BTP, Clean Core extensions, AI-driven enterprise systems, cloud architecture, integration, and production-scale applications.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exists because of one belief, proven across every engagement: technology doesn't transform businesses — connection does. No handoff from a senior architect to an anonymous delivery team. The person who scopes the system designs it, builds it, and answers for it in production.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&amp; CORE SYSTEMS PVT LTD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  ·  THREADANDCORE.COM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1259007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WHY THREAD &amp; CORE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model, by design.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COMMON PATTERN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370168" y="164592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THREAD &amp; CORE WORKS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95848" y="1645920"/>
            <a:ext cx="0" cy="457200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148840"/>
            <a:ext cx="527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by a senior lead, delivered by a junior team.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70168" y="2148840"/>
            <a:ext cx="527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 who scopes it is the one who builds it.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154680"/>
            <a:ext cx="527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service catalogue, applied to every client.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70168" y="3154680"/>
            <a:ext cx="527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proprietary five-phase method, tailored per engagement.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527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 made before the business is understood.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70168" y="4160520"/>
            <a:ext cx="527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study and DPRs shape the plan before it's built.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5166360"/>
            <a:ext cx="527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measured by hours billed.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70168" y="5166360"/>
            <a:ext cx="5272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D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measured by systems that scale, adapt, and endure.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&amp; CORE SYSTEMS PVT LTD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  ·  THREADANDCORE.COM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1259007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HOW WE WORK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from conversation to production.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0C0F16"/>
          </a:solidFill>
          <a:ln w="19050">
            <a:solidFill>
              <a:srgbClr val="D99A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1089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Conversation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54787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how your business runs. We'll tell you honestly whether we can help.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42232" y="2359152"/>
            <a:ext cx="630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9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846320" y="2377440"/>
            <a:ext cx="548640" cy="548640"/>
          </a:xfrm>
          <a:prstGeom prst="ellipse">
            <a:avLst/>
          </a:prstGeom>
          <a:solidFill>
            <a:srgbClr val="0C0F16"/>
          </a:solidFill>
          <a:ln w="19050">
            <a:solidFill>
              <a:srgbClr val="D99A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46320" y="31089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&amp; Plan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846320" y="354787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study, DPRs, and functional specifications — the plan the build follows.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165592" y="2359152"/>
            <a:ext cx="630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9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69680" y="2377440"/>
            <a:ext cx="548640" cy="548640"/>
          </a:xfrm>
          <a:prstGeom prst="ellipse">
            <a:avLst/>
          </a:prstGeom>
          <a:solidFill>
            <a:srgbClr val="0C0F16"/>
          </a:solidFill>
          <a:ln w="19050">
            <a:solidFill>
              <a:srgbClr val="D99A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69680" y="31089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Deliver, End to End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869680" y="354787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five-phase framework, executed by the architect who scoped it — through go-live.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&amp; CORE SYSTEMS PVT LTD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  ·  THREADANDCORE.COM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1005840"/>
            <a:ext cx="12740335" cy="0"/>
          </a:xfrm>
          <a:prstGeom prst="line">
            <a:avLst/>
          </a:prstGeom>
          <a:noFill/>
          <a:ln w="9525">
            <a:solidFill>
              <a:srgbClr val="D99A4E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383280"/>
            <a:ext cx="12740335" cy="0"/>
          </a:xfrm>
          <a:prstGeom prst="line">
            <a:avLst/>
          </a:prstGeom>
          <a:noFill/>
          <a:ln w="9525">
            <a:solidFill>
              <a:srgbClr val="D99A4E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5760720"/>
            <a:ext cx="12740335" cy="0"/>
          </a:xfrm>
          <a:prstGeom prst="line">
            <a:avLst/>
          </a:prstGeom>
          <a:noFill/>
          <a:ln w="9525">
            <a:solidFill>
              <a:srgbClr val="D99A4E">
                <a:alpha val="8000"/>
              </a:srgbClr>
            </a:solidFill>
            <a:prstDash val="solid"/>
          </a:ln>
        </p:spPr>
      </p:sp>
      <p:pic>
        <p:nvPicPr>
          <p:cNvPr id="5" name="Image 0" descr="/private/tmp/claude-501/-Users-kunjamaggarwal-Documents-Thread-And-Core-website-Fable5/d76aaee8-2a20-4948-9615-53c9d15d8fdd/scratchpad/assets/knot_gol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5803240" y="502920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417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A CONVERSATION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66648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how your business runs.</a:t>
            </a:r>
            <a:endParaRPr lang="en-US" sz="3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tell you what to build.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981048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taking every engagement. We are taking the right ones — where architecture can create real leverage and the client wants a peer, not a vendor.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0" y="37947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 </a:t>
            </a:r>
            <a:pPr algn="ctr" indent="0" marL="0">
              <a:buNone/>
            </a:pPr>
            <a:r>
              <a:rPr lang="en-US" sz="1050" dirty="0">
                <a:solidFill>
                  <a:srgbClr val="ED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Prashant.Agarwal@threadandcore.com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0" y="408736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   </a:t>
            </a:r>
            <a:pPr algn="ctr" indent="0" marL="0">
              <a:buNone/>
            </a:pPr>
            <a:r>
              <a:rPr lang="en-US" sz="1050" dirty="0">
                <a:solidFill>
                  <a:srgbClr val="ED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linkedin.com/in/agarawal-prashant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0" y="43799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  </a:t>
            </a:r>
            <a:pPr algn="ctr" indent="0" marL="0">
              <a:buNone/>
            </a:pPr>
            <a:r>
              <a:rPr lang="en-US" sz="1050" dirty="0">
                <a:solidFill>
                  <a:srgbClr val="ED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Pune, India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0" y="467258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   </a:t>
            </a:r>
            <a:pPr algn="ctr" indent="0" marL="0">
              <a:buNone/>
            </a:pPr>
            <a:r>
              <a:rPr lang="en-US" sz="1050" dirty="0">
                <a:solidFill>
                  <a:srgbClr val="ED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and onsite engagements, globally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0" y="5532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F0C9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Every Thread to the Core.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0" y="60807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D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AND CORE SYSTEMS PRIVATE LIMITED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&amp; Core Systems — Capability Deck</dc:title>
  <dc:subject>PptxGenJS Presentation</dc:subject>
  <dc:creator>Thread and Core Systems Private Limited</dc:creator>
  <cp:lastModifiedBy>Thread and Core Systems Private Limited</cp:lastModifiedBy>
  <cp:revision>1</cp:revision>
  <dcterms:created xsi:type="dcterms:W3CDTF">2026-07-08T15:10:30Z</dcterms:created>
  <dcterms:modified xsi:type="dcterms:W3CDTF">2026-07-08T15:10:30Z</dcterms:modified>
</cp:coreProperties>
</file>