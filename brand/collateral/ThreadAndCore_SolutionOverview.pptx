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</a:t>
            </a:r>
            <a:pPr indent="0" marL="0">
              <a:buNone/>
            </a:pPr>
            <a:r>
              <a:rPr lang="en-US" sz="46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46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502920" y="2450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Y S T E M 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ARCHITECTURE FOR THE CONNECTED ENTERPRISE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33101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· Clean Core · Business AI · Integration · Full-Stack Engineering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4041648"/>
            <a:ext cx="7223760" cy="0"/>
          </a:xfrm>
          <a:prstGeom prst="line">
            <a:avLst/>
          </a:prstGeom>
          <a:noFill/>
          <a:ln w="15875">
            <a:solidFill>
              <a:srgbClr val="C086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71816" y="3986784"/>
            <a:ext cx="109728" cy="109728"/>
          </a:xfrm>
          <a:prstGeom prst="ellipse">
            <a:avLst/>
          </a:prstGeom>
          <a:solidFill>
            <a:srgbClr val="C0863F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187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DECK · 2026</a:t>
            </a:r>
            <a:pPr indent="0" marL="0">
              <a:buNone/>
            </a:pPr>
            <a:r>
              <a:rPr lang="en-US" sz="850" spc="10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Founder-led practice · Pune, India · Remote &amp; onsite, globally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SHIFT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software is becoming AI-native.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is embedding business AI across its entire portfolio — Joule as the assistant layer, AI Foundation on BTP as the developer stack. The ERP stays the system of record; BTP is the system of innovation. The winners will be the enterprises that connect AI to process, data, and governance first.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1901952"/>
            <a:ext cx="2633472" cy="1170432"/>
          </a:xfrm>
          <a:prstGeom prst="roundRect">
            <a:avLst>
              <a:gd name="adj" fmla="val 23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201168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$2.6–4.4T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67512" y="2468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annual value added by generative AI to the global economy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64408" y="1901952"/>
            <a:ext cx="2633472" cy="1170432"/>
          </a:xfrm>
          <a:prstGeom prst="roundRect">
            <a:avLst>
              <a:gd name="adj" fmla="val 23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201168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429000" y="2468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already use generative AI in at least one business function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25896" y="1901952"/>
            <a:ext cx="2633472" cy="1170432"/>
          </a:xfrm>
          <a:prstGeom prst="roundRect">
            <a:avLst>
              <a:gd name="adj" fmla="val 23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0488" y="201168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90488" y="246888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organisations are increasing AI investment because of generative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31272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McKinsey, State of AI — as presented in SAP's BTP &amp; Generative AI strategy.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02920" y="3493008"/>
            <a:ext cx="8138160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785616"/>
            <a:ext cx="402336" cy="402336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3882177"/>
            <a:ext cx="209215" cy="2092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43584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Joule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243584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across every SAP product</a:t>
            </a:r>
            <a:endParaRPr lang="en-US" sz="780" dirty="0"/>
          </a:p>
        </p:txBody>
      </p:sp>
      <p:sp>
        <p:nvSpPr>
          <p:cNvPr id="23" name="Shape 19"/>
          <p:cNvSpPr/>
          <p:nvPr/>
        </p:nvSpPr>
        <p:spPr>
          <a:xfrm>
            <a:off x="3429000" y="3785616"/>
            <a:ext cx="402336" cy="402336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561" y="3882177"/>
            <a:ext cx="209215" cy="20921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41064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941064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capabilities inside business processes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6126480" y="3785616"/>
            <a:ext cx="402336" cy="402336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41" y="3882177"/>
            <a:ext cx="209215" cy="20921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38544" y="3712464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Foundation on BTP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638544" y="395020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Core, GenAI Hub, vector engine — where custom AI is built</a:t>
            </a:r>
            <a:endParaRPr lang="en-US" sz="780" dirty="0"/>
          </a:p>
        </p:txBody>
      </p:sp>
      <p:sp>
        <p:nvSpPr>
          <p:cNvPr id="31" name="Text 25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on this stack today — Joule Studio, SAP AI Core, RAG on HANA vector — in production, not in slideware.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SAP BTP — THE SYSTEM OF INNOVATION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pillars of SAP BTP. We deliver across all of them.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789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is how enterprises innovate without touching the ERP core — build, integrate, analyse, automate, and apply AI on one governed platform.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627632"/>
            <a:ext cx="1572768" cy="2084832"/>
          </a:xfrm>
          <a:prstGeom prst="roundRect">
            <a:avLst>
              <a:gd name="adj" fmla="val 17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" y="1773936"/>
            <a:ext cx="384048" cy="384048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8" y="1866108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" y="224942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Development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30936" y="2743200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extensions with CAP, Fiori/UI5, SAP Build Apps, and MDK mobile.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2144268" y="1627632"/>
            <a:ext cx="1572768" cy="2084832"/>
          </a:xfrm>
          <a:prstGeom prst="roundRect">
            <a:avLst>
              <a:gd name="adj" fmla="val 17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72284" y="1773936"/>
            <a:ext cx="384048" cy="384048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456" y="1866108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72284" y="224942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272284" y="2743200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Build Process Automation — approvals, workflows, document-driven processes.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3785616" y="1627632"/>
            <a:ext cx="1572768" cy="2084832"/>
          </a:xfrm>
          <a:prstGeom prst="roundRect">
            <a:avLst>
              <a:gd name="adj" fmla="val 17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913632" y="1773936"/>
            <a:ext cx="384048" cy="384048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804" y="1866108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13632" y="224942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3913632" y="2743200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Suite, APIs, events — SAP and non-SAP, with principal propagation.</a:t>
            </a:r>
            <a:endParaRPr lang="en-US" sz="820" dirty="0"/>
          </a:p>
        </p:txBody>
      </p:sp>
      <p:sp>
        <p:nvSpPr>
          <p:cNvPr id="23" name="Shape 17"/>
          <p:cNvSpPr/>
          <p:nvPr/>
        </p:nvSpPr>
        <p:spPr>
          <a:xfrm>
            <a:off x="5426964" y="1627632"/>
            <a:ext cx="1572768" cy="2084832"/>
          </a:xfrm>
          <a:prstGeom prst="roundRect">
            <a:avLst>
              <a:gd name="adj" fmla="val 17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554980" y="1773936"/>
            <a:ext cx="384048" cy="384048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152" y="1866108"/>
            <a:ext cx="199705" cy="19970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54980" y="224942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554980" y="2743200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Cloud, Datasphere, SAP Analytics Cloud — live decision intelligence.</a:t>
            </a:r>
            <a:endParaRPr lang="en-US" sz="820" dirty="0"/>
          </a:p>
        </p:txBody>
      </p:sp>
      <p:sp>
        <p:nvSpPr>
          <p:cNvPr id="28" name="Shape 21"/>
          <p:cNvSpPr/>
          <p:nvPr/>
        </p:nvSpPr>
        <p:spPr>
          <a:xfrm>
            <a:off x="7068312" y="1627632"/>
            <a:ext cx="1572768" cy="2084832"/>
          </a:xfrm>
          <a:prstGeom prst="roundRect">
            <a:avLst>
              <a:gd name="adj" fmla="val 1744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196328" y="1773936"/>
            <a:ext cx="384048" cy="384048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8500" y="1866108"/>
            <a:ext cx="199705" cy="19970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96328" y="224942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Machine Learning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196328" y="2743200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AI Core, Joule &amp; Joule Studio, GenAI Hub, vector engine, RAG.</a:t>
            </a:r>
            <a:endParaRPr lang="en-US" sz="820" dirty="0"/>
          </a:p>
        </p:txBody>
      </p:sp>
      <p:sp>
        <p:nvSpPr>
          <p:cNvPr id="33" name="Shape 25"/>
          <p:cNvSpPr/>
          <p:nvPr/>
        </p:nvSpPr>
        <p:spPr>
          <a:xfrm>
            <a:off x="502920" y="3913632"/>
            <a:ext cx="813816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85800" y="404164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DEEPEST EXPERTISE   </a:t>
            </a:r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Side-by-Side Extensions · BTP Integration · SAP Joule &amp; Joule Studio · SAP AI Core · Conversational AI · Low-Code (SAP Build)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CLEAN CORE ARCHITECTURE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core. Never modify it.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PLANNERS · OPERATORS · CUSTOMERS · MANAGERS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4297680" cy="1170432"/>
          </a:xfrm>
          <a:prstGeom prst="roundRect">
            <a:avLst>
              <a:gd name="adj" fmla="val 2344"/>
            </a:avLst>
          </a:prstGeom>
          <a:solidFill>
            <a:srgbClr val="F3E3C9"/>
          </a:solidFill>
          <a:ln w="12700">
            <a:solidFill>
              <a:srgbClr val="C086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5544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SIDE-BY-SIDE EXTENSIONS ON SAP BTP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17922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services · Fiori / React UX · MDK mobile · HANA Cloud persistence · AI Core &amp; Joule · Build Process Automation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custom logic, data, and UX live here — upgrade-safe.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51760" y="2633472"/>
            <a:ext cx="0" cy="310896"/>
          </a:xfrm>
          <a:prstGeom prst="line">
            <a:avLst/>
          </a:prstGeom>
          <a:noFill/>
          <a:ln w="19050">
            <a:solidFill>
              <a:srgbClr val="C086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6700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APIs · CDS · events · principal propagation only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02920" y="2980944"/>
            <a:ext cx="4297680" cy="960120"/>
          </a:xfrm>
          <a:prstGeom prst="roundRect">
            <a:avLst>
              <a:gd name="adj" fmla="val 2857"/>
            </a:avLst>
          </a:prstGeom>
          <a:solidFill>
            <a:srgbClr val="1B222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1089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S/4HANA — THE DIGITAL CORE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33467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record. Standard processes, standard code — untouched, always upgrade-ready.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40965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core modifications. Ever.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20640" y="12070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KEEP IT CLEAN</a:t>
            </a:r>
            <a:endParaRPr lang="en-US" sz="8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99616"/>
            <a:ext cx="146304" cy="1463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58384" y="148132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APIs only — </a:t>
            </a:r>
            <a:pPr indent="0" marL="0">
              <a:buNone/>
            </a:pPr>
            <a:r>
              <a:rPr lang="en-US" sz="9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S/4HANA call uses released OData / CDS interfaces — nothing fragile, nothing modified.</a:t>
            </a:r>
            <a:endParaRPr lang="en-US" sz="92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21408"/>
            <a:ext cx="146304" cy="1463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58384" y="2103120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extensibility tier — </a:t>
            </a:r>
            <a:pPr indent="0" marL="0">
              <a:buNone/>
            </a:pPr>
            <a:r>
              <a:rPr lang="en-US" sz="9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for small fits, side-by-side for real applications — decided per use case, documented.</a:t>
            </a:r>
            <a:endParaRPr lang="en-US" sz="92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0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58384" y="2724912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flows end-to-end — </a:t>
            </a:r>
            <a:pPr indent="0" marL="0">
              <a:buNone/>
            </a:pPr>
            <a:r>
              <a:rPr lang="en-US" sz="9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 + principal propagation: S/4HANA enforces its own authorisations on every call. No shared technical users.</a:t>
            </a:r>
            <a:endParaRPr lang="en-US" sz="92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364992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58384" y="334670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Upgrade-safe lifecycle — </a:t>
            </a:r>
            <a:pPr indent="0" marL="0">
              <a:buNone/>
            </a:pPr>
            <a:r>
              <a:rPr lang="en-US" sz="9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transportable, CI/CD-deployed — core upgrades never wait for custom code.</a:t>
            </a:r>
            <a:endParaRPr lang="en-US" sz="92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986784"/>
            <a:ext cx="146304" cy="14630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58384" y="39684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Custom-code triage at scale — </a:t>
            </a:r>
            <a:pPr indent="0" marL="0">
              <a:buNone/>
            </a:pPr>
            <a:r>
              <a:rPr lang="en-US" sz="9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classified 45,000+ legacy objects into clean-core tiers to de-risk S/4HANA moves.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WHAT WE OFFER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services. One architecture.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1234440"/>
            <a:ext cx="2633472" cy="1517904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" y="1353312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40" y="1432316"/>
            <a:ext cx="171176" cy="171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" y="135331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Extensions &amp; Integration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9224" y="180136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applications on a clean ERP core — plus the APIs, events, and middleware that connect them.</a:t>
            </a:r>
            <a:endParaRPr lang="en-US" sz="870" dirty="0"/>
          </a:p>
        </p:txBody>
      </p:sp>
      <p:sp>
        <p:nvSpPr>
          <p:cNvPr id="12" name="Text 8"/>
          <p:cNvSpPr/>
          <p:nvPr/>
        </p:nvSpPr>
        <p:spPr>
          <a:xfrm>
            <a:off x="649224" y="25146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BTP · CAP · FIORI/UI5 · INTEGRATION SUITE</a:t>
            </a:r>
            <a:endParaRPr lang="en-US" sz="630" dirty="0"/>
          </a:p>
        </p:txBody>
      </p:sp>
      <p:sp>
        <p:nvSpPr>
          <p:cNvPr id="13" name="Shape 9"/>
          <p:cNvSpPr/>
          <p:nvPr/>
        </p:nvSpPr>
        <p:spPr>
          <a:xfrm>
            <a:off x="3264408" y="1234440"/>
            <a:ext cx="2633472" cy="1517904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92424" y="1353312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428" y="1432316"/>
            <a:ext cx="171176" cy="171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135331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Intelligent Automation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410712" y="180136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copilots, RAG, and workflow automation — deployed where they remove real work.</a:t>
            </a:r>
            <a:endParaRPr lang="en-US" sz="870" dirty="0"/>
          </a:p>
        </p:txBody>
      </p:sp>
      <p:sp>
        <p:nvSpPr>
          <p:cNvPr id="18" name="Text 13"/>
          <p:cNvSpPr/>
          <p:nvPr/>
        </p:nvSpPr>
        <p:spPr>
          <a:xfrm>
            <a:off x="3410712" y="25146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AI CORE · JOULE · GENAI · RAG · SAP BPA</a:t>
            </a:r>
            <a:endParaRPr lang="en-US" sz="630" dirty="0"/>
          </a:p>
        </p:txBody>
      </p:sp>
      <p:sp>
        <p:nvSpPr>
          <p:cNvPr id="19" name="Shape 14"/>
          <p:cNvSpPr/>
          <p:nvPr/>
        </p:nvSpPr>
        <p:spPr>
          <a:xfrm>
            <a:off x="6025896" y="1234440"/>
            <a:ext cx="2633472" cy="1517904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53912" y="1353312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916" y="1432316"/>
            <a:ext cx="171176" cy="171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56248" y="135331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Enterprise Platforms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172200" y="180136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mobile platforms teams run the business on — offline-first, multilingual, enterprise-secured.</a:t>
            </a:r>
            <a:endParaRPr lang="en-US" sz="870" dirty="0"/>
          </a:p>
        </p:txBody>
      </p:sp>
      <p:sp>
        <p:nvSpPr>
          <p:cNvPr id="24" name="Text 18"/>
          <p:cNvSpPr/>
          <p:nvPr/>
        </p:nvSpPr>
        <p:spPr>
          <a:xfrm>
            <a:off x="6172200" y="25146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NODE.JS · MONGODB · MOBILE</a:t>
            </a:r>
            <a:endParaRPr lang="en-US" sz="630" dirty="0"/>
          </a:p>
        </p:txBody>
      </p:sp>
      <p:sp>
        <p:nvSpPr>
          <p:cNvPr id="25" name="Shape 19"/>
          <p:cNvSpPr/>
          <p:nvPr/>
        </p:nvSpPr>
        <p:spPr>
          <a:xfrm>
            <a:off x="1883664" y="2880360"/>
            <a:ext cx="2633472" cy="1517904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011680" y="2999232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684" y="3078236"/>
            <a:ext cx="171176" cy="171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414016" y="299923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2029968" y="344728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enterprise data turned into dashboards and decision intelligence — health, visibility, migration readiness.</a:t>
            </a:r>
            <a:endParaRPr lang="en-US" sz="870" dirty="0"/>
          </a:p>
        </p:txBody>
      </p:sp>
      <p:sp>
        <p:nvSpPr>
          <p:cNvPr id="30" name="Text 23"/>
          <p:cNvSpPr/>
          <p:nvPr/>
        </p:nvSpPr>
        <p:spPr>
          <a:xfrm>
            <a:off x="2029968" y="41605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HANA CLOUD · SAC · DATASPHERE · CAP</a:t>
            </a:r>
            <a:endParaRPr lang="en-US" sz="630" dirty="0"/>
          </a:p>
        </p:txBody>
      </p:sp>
      <p:sp>
        <p:nvSpPr>
          <p:cNvPr id="31" name="Shape 24"/>
          <p:cNvSpPr/>
          <p:nvPr/>
        </p:nvSpPr>
        <p:spPr>
          <a:xfrm>
            <a:off x="4645152" y="2880360"/>
            <a:ext cx="2633472" cy="1517904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73168" y="2999232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2172" y="3078236"/>
            <a:ext cx="171176" cy="171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75504" y="299923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Solution Architecture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791456" y="3447288"/>
            <a:ext cx="2340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study, DPRs, and functional specs that make delivery predictable — then we build against the same plan.</a:t>
            </a:r>
            <a:endParaRPr lang="en-US" sz="870" dirty="0"/>
          </a:p>
        </p:txBody>
      </p:sp>
      <p:sp>
        <p:nvSpPr>
          <p:cNvPr id="36" name="Text 28"/>
          <p:cNvSpPr/>
          <p:nvPr/>
        </p:nvSpPr>
        <p:spPr>
          <a:xfrm>
            <a:off x="4791456" y="41605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spc="5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ECOSYSTEM STUDY · DPR · FUNCTIONAL SPECS</a:t>
            </a:r>
            <a:endParaRPr lang="en-US" sz="630" dirty="0"/>
          </a:p>
        </p:txBody>
      </p:sp>
      <p:sp>
        <p:nvSpPr>
          <p:cNvPr id="37" name="Text 29"/>
          <p:cNvSpPr/>
          <p:nvPr/>
        </p:nvSpPr>
        <p:spPr>
          <a:xfrm>
            <a:off x="502920" y="44988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 who scopes your project is the one who builds it — senior involvement from first conversation to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THE THREAD &amp; CORE FRAMEWORK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method, applied at any scale.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are what moves — processes, applications, data, integrations, intelligence, people. The Core is what anchors — value, resilience, governance.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295144"/>
            <a:ext cx="8129016" cy="0"/>
          </a:xfrm>
          <a:prstGeom prst="line">
            <a:avLst/>
          </a:prstGeom>
          <a:noFill/>
          <a:ln w="19050">
            <a:solidFill>
              <a:srgbClr val="C086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213969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cannot fail?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the business core — model, pain points, systems landscape, bottlenecks.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157984" y="213969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57984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30552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30552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gaps?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30552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threads — process dependencies, applications, APIs, integration points.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213969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8561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58184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58184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be rebuilt?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758184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the architecture — Clean Core strategy, extensions, cloud-native builds.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13248" y="213969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1324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85816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85816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run without humans?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85816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intelligence — workflows, approvals, predictions, copilots.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0" y="213969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4088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13448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13448" y="284378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D6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survive change?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013448" y="3319272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systems that endure — visibility, resilience, compliance, global scale.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8714232" y="2194560"/>
            <a:ext cx="201168" cy="201168"/>
          </a:xfrm>
          <a:prstGeom prst="ellipse">
            <a:avLst/>
          </a:prstGeom>
          <a:solidFill>
            <a:srgbClr val="C0863F"/>
          </a:solidFill>
          <a:ln/>
        </p:spPr>
      </p:sp>
      <p:sp>
        <p:nvSpPr>
          <p:cNvPr id="35" name="Text 32"/>
          <p:cNvSpPr/>
          <p:nvPr/>
        </p:nvSpPr>
        <p:spPr>
          <a:xfrm>
            <a:off x="8494776" y="2459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TRACK RECORD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years of shipping enterprise systems.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through senior architect roles for global enterprises and independent product builds — the experience this practice is built 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2633472" cy="987552"/>
          </a:xfrm>
          <a:prstGeom prst="roundRect">
            <a:avLst>
              <a:gd name="adj" fmla="val 2778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17099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67512" y="211226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enterprise delivery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264408" y="1600200"/>
            <a:ext cx="2633472" cy="987552"/>
          </a:xfrm>
          <a:prstGeom prst="roundRect">
            <a:avLst>
              <a:gd name="adj" fmla="val 2778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17099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429000" y="211226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 onsite — India, Germany, Australia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025896" y="1600200"/>
            <a:ext cx="2633472" cy="987552"/>
          </a:xfrm>
          <a:prstGeom prst="roundRect">
            <a:avLst>
              <a:gd name="adj" fmla="val 2778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0488" y="17099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90488" y="2112264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systems architected and shipped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02920" y="2715768"/>
            <a:ext cx="2633472" cy="987552"/>
          </a:xfrm>
          <a:prstGeom prst="roundRect">
            <a:avLst>
              <a:gd name="adj" fmla="val 2778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282549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67512" y="322783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/ languages in one global rollout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264408" y="2715768"/>
            <a:ext cx="2633472" cy="987552"/>
          </a:xfrm>
          <a:prstGeom prst="roundRect">
            <a:avLst>
              <a:gd name="adj" fmla="val 2778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82549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429000" y="322783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certifications — CAP &amp; Fiori development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025896" y="2715768"/>
            <a:ext cx="2633472" cy="987552"/>
          </a:xfrm>
          <a:prstGeom prst="roundRect">
            <a:avLst>
              <a:gd name="adj" fmla="val 2778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0488" y="282549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190488" y="322783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courses taught as instructor — BTP100, CLD200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502920" y="3886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INDUSTRIES   </a:t>
            </a:r>
            <a:pPr indent="0" marL="0">
              <a:buNone/>
            </a:pPr>
            <a:r>
              <a:rPr lang="en-US" sz="10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&amp; Explosives · Manufacturing · Oil &amp; Gas · Engineering · Healthcare · Supply Chain · HR &amp; Talent · Consumer AI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2920" y="41879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  </a:t>
            </a:r>
            <a:pPr indent="0" marL="0">
              <a:buNone/>
            </a:pPr>
            <a:r>
              <a:rPr lang="en-US" sz="10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· CAP · Fiori/UI5 · S/4HANA · HANA Cloud · AI Core · Joule · SAP Build · Integration Suite · SAC · React · Node.js · MongoDB · Python · Langchain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CASE STUDY — FIELD OPERATIONS · MINING &amp; EXPLOSIVES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paper dockets to a connected field operation.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explosives company — Australia · 4 regions · 7 languages · live in production.  </a:t>
            </a:r>
            <a:pPr indent="0" marL="0">
              <a:buNone/>
            </a:pPr>
            <a:r>
              <a:rPr lang="en-US" sz="10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schedules lived in spreadsheets. Delivery dockets were paper, signed at remote mine sites. Goods receipt took 16 manual steps. Invoicing waited 3–5 days per docket.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02920" y="1810512"/>
            <a:ext cx="2633472" cy="1993392"/>
          </a:xfrm>
          <a:prstGeom prst="roundRect">
            <a:avLst>
              <a:gd name="adj" fmla="val 137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" y="1947672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2035454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6424" y="19659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106424" y="213969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Web App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9224" y="2468880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blast scheduling board — trucks, crews, shotfirers, surveyors, multi-day and recurring bookings. An AI-driven 4-week rolling forecast auto-creates Planned Orders in S/4HANA.</a:t>
            </a:r>
            <a:endParaRPr lang="en-US" sz="880" dirty="0"/>
          </a:p>
        </p:txBody>
      </p:sp>
      <p:sp>
        <p:nvSpPr>
          <p:cNvPr id="14" name="Text 10"/>
          <p:cNvSpPr/>
          <p:nvPr/>
        </p:nvSpPr>
        <p:spPr>
          <a:xfrm>
            <a:off x="311810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264408" y="1810512"/>
            <a:ext cx="2633472" cy="1993392"/>
          </a:xfrm>
          <a:prstGeom prst="roundRect">
            <a:avLst>
              <a:gd name="adj" fmla="val 137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10712" y="1947672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494" y="2035454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67912" y="19659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3867912" y="213969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Tablet App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410712" y="2468880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Offline-capable digital dockets for remote sites — planned vs actual quantities, on-site additions, customer signature on glass, a legally complete PDF, and an instant invoice trigger.</a:t>
            </a:r>
            <a:endParaRPr lang="en-US" sz="880" dirty="0"/>
          </a:p>
        </p:txBody>
      </p:sp>
      <p:sp>
        <p:nvSpPr>
          <p:cNvPr id="21" name="Text 16"/>
          <p:cNvSpPr/>
          <p:nvPr/>
        </p:nvSpPr>
        <p:spPr>
          <a:xfrm>
            <a:off x="587959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025896" y="1810512"/>
            <a:ext cx="2633472" cy="1993392"/>
          </a:xfrm>
          <a:prstGeom prst="roundRect">
            <a:avLst>
              <a:gd name="adj" fmla="val 137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172200" y="1947672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982" y="2035454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19659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 &amp; TRACK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6629400" y="213969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172200" y="2468880"/>
            <a:ext cx="23408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customers see every delivery live, countersign dockets digitally to release invoicing, and track contract utilisation — the 3–5 day billing delay is gone.</a:t>
            </a:r>
            <a:endParaRPr lang="en-US" sz="880" dirty="0"/>
          </a:p>
        </p:txBody>
      </p:sp>
      <p:sp>
        <p:nvSpPr>
          <p:cNvPr id="28" name="Text 22"/>
          <p:cNvSpPr/>
          <p:nvPr/>
        </p:nvSpPr>
        <p:spPr>
          <a:xfrm>
            <a:off x="502920" y="4005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→ 1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02920" y="43342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GOODS RECEIPT STEPS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2569464" y="4005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days → instant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2569464" y="43342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RELEASE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636008" y="4005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7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4636008" y="43342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 · LANGUAGES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6702552" y="4005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6702552" y="43342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 OBJECTS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CASE STUDY — THE ARCHITECTURE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09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clean-core, side-by-side extension — end to end.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12618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645920" y="1188720"/>
            <a:ext cx="2286000" cy="658368"/>
          </a:xfrm>
          <a:prstGeom prst="roundRect">
            <a:avLst>
              <a:gd name="adj" fmla="val 416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55648" y="12618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Web App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55648" y="14630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· forecast · inbound delivery · stock — React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4041648" y="1188720"/>
            <a:ext cx="2286000" cy="658368"/>
          </a:xfrm>
          <a:prstGeom prst="roundRect">
            <a:avLst>
              <a:gd name="adj" fmla="val 416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51376" y="12618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Docket App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51376" y="14630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MDK app — dockets, actuals, signatures</a:t>
            </a:r>
            <a:endParaRPr lang="en-US" sz="730" dirty="0"/>
          </a:p>
        </p:txBody>
      </p:sp>
      <p:sp>
        <p:nvSpPr>
          <p:cNvPr id="14" name="Shape 11"/>
          <p:cNvSpPr/>
          <p:nvPr/>
        </p:nvSpPr>
        <p:spPr>
          <a:xfrm>
            <a:off x="6437376" y="1188720"/>
            <a:ext cx="2286000" cy="658368"/>
          </a:xfrm>
          <a:prstGeom prst="roundRect">
            <a:avLst>
              <a:gd name="adj" fmla="val 416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47104" y="12618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47104" y="14630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tracking · docket sign-off · invoices — React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1645920" y="1883664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OData V4 / REST · MDK offline sync · AI calls via BTP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" y="22860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BTP RUNTIME &amp; SERVICES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645920" y="2121408"/>
            <a:ext cx="1709928" cy="969264"/>
          </a:xfrm>
          <a:prstGeom prst="roundRect">
            <a:avLst>
              <a:gd name="adj" fmla="val 2830"/>
            </a:avLst>
          </a:prstGeom>
          <a:solidFill>
            <a:srgbClr val="F3E3C9"/>
          </a:solidFill>
          <a:ln w="9525">
            <a:solidFill>
              <a:srgbClr val="C086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37360" y="219456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Backend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1737360" y="2523744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 entities · OData V4 · Node.js handlers · audit trail · variance detection</a:t>
            </a:r>
            <a:endParaRPr lang="en-US" sz="690" dirty="0"/>
          </a:p>
        </p:txBody>
      </p:sp>
      <p:sp>
        <p:nvSpPr>
          <p:cNvPr id="22" name="Shape 19"/>
          <p:cNvSpPr/>
          <p:nvPr/>
        </p:nvSpPr>
        <p:spPr>
          <a:xfrm>
            <a:off x="3424428" y="2121408"/>
            <a:ext cx="1709928" cy="969264"/>
          </a:xfrm>
          <a:prstGeom prst="roundRect">
            <a:avLst>
              <a:gd name="adj" fmla="val 2830"/>
            </a:avLst>
          </a:prstGeom>
          <a:solidFill>
            <a:srgbClr val="F3E3C9"/>
          </a:solidFill>
          <a:ln w="9525">
            <a:solidFill>
              <a:srgbClr val="C0863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15868" y="219456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AI Core + Joule Studio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3515868" y="2523744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demand forecast model · confidence scoring · natural-language inventory queries</a:t>
            </a:r>
            <a:endParaRPr lang="en-US" sz="690" dirty="0"/>
          </a:p>
        </p:txBody>
      </p:sp>
      <p:sp>
        <p:nvSpPr>
          <p:cNvPr id="25" name="Shape 22"/>
          <p:cNvSpPr/>
          <p:nvPr/>
        </p:nvSpPr>
        <p:spPr>
          <a:xfrm>
            <a:off x="5202936" y="2121408"/>
            <a:ext cx="1709928" cy="969264"/>
          </a:xfrm>
          <a:prstGeom prst="roundRect">
            <a:avLst>
              <a:gd name="adj" fmla="val 2830"/>
            </a:avLst>
          </a:prstGeom>
          <a:solidFill>
            <a:srgbClr val="F3E3C9"/>
          </a:solidFill>
          <a:ln w="9525">
            <a:solidFill>
              <a:srgbClr val="C0863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94376" y="219456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Services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294376" y="2523744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MDK runtime · offline store sync · push dispatch notifications</a:t>
            </a:r>
            <a:endParaRPr lang="en-US" sz="690" dirty="0"/>
          </a:p>
        </p:txBody>
      </p:sp>
      <p:sp>
        <p:nvSpPr>
          <p:cNvPr id="28" name="Shape 25"/>
          <p:cNvSpPr/>
          <p:nvPr/>
        </p:nvSpPr>
        <p:spPr>
          <a:xfrm>
            <a:off x="6981444" y="2121408"/>
            <a:ext cx="1709928" cy="969264"/>
          </a:xfrm>
          <a:prstGeom prst="roundRect">
            <a:avLst>
              <a:gd name="adj" fmla="val 2830"/>
            </a:avLst>
          </a:prstGeom>
          <a:solidFill>
            <a:srgbClr val="F3E3C9"/>
          </a:solidFill>
          <a:ln w="9525">
            <a:solidFill>
              <a:srgbClr val="C0863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72884" y="219456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 + Destination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7072884" y="2523744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· principal propagation — user identity forwarded to S/4HANA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1645920" y="312724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OData services · event-driven cascade on docket submit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920" y="34564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INTEGRATION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645920" y="3364992"/>
            <a:ext cx="2286000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755648" y="34381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Cloud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755648" y="363931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entities · calculation views for stock runway &amp; consumption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4041648" y="3364992"/>
            <a:ext cx="2286000" cy="786384"/>
          </a:xfrm>
          <a:prstGeom prst="roundRect">
            <a:avLst>
              <a:gd name="adj" fmla="val 3488"/>
            </a:avLst>
          </a:prstGeom>
          <a:solidFill>
            <a:srgbClr val="1B222E"/>
          </a:solidFill>
          <a:ln/>
        </p:spPr>
      </p:sp>
      <p:sp>
        <p:nvSpPr>
          <p:cNvPr id="37" name="Text 34"/>
          <p:cNvSpPr/>
          <p:nvPr/>
        </p:nvSpPr>
        <p:spPr>
          <a:xfrm>
            <a:off x="4151376" y="34381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 — released APIs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151376" y="363931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 posting · Planned Orders · stock overview · material documents · master data sync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6437376" y="3364992"/>
            <a:ext cx="2286000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47104" y="34381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Notifications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547104" y="363931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Docket submit → PGR → invoice trigger → customer email + PDF · Twilio SMS dispatch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Identity-aware by design — </a:t>
            </a:r>
            <a:pPr indent="0" marL="0">
              <a:buNone/>
            </a:pPr>
            <a:r>
              <a:rPr lang="en-US" sz="9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logged-in user's identity flows from BTP to S/4HANA on every call; the ERP enforces the same authorisations as in the SAP GUI. No shared technical users, no hardcoded credentials.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OUR WORK — SAP JOULE &amp; AI CORE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inventory a question. Get a decision.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789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Obsolete Inventory Optimizer — </a:t>
            </a:r>
            <a:pPr indent="0" marL="0">
              <a:buNone/>
            </a:pPr>
            <a:r>
              <a:rPr lang="en-US" sz="10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 analytics and GenAI solution on SAP BTP that finds obsolete and high-risk stock, predicts goods-receipt timelines, and answers questions in plain language.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02920" y="1755648"/>
            <a:ext cx="1517904" cy="1481328"/>
          </a:xfrm>
          <a:prstGeom prst="roundRect">
            <a:avLst>
              <a:gd name="adj" fmla="val 185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5" y="1957913"/>
            <a:ext cx="180685" cy="180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621792" y="26700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materials are high-risk and slow-moving?”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196596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139696" y="1755648"/>
            <a:ext cx="1517904" cy="1481328"/>
          </a:xfrm>
          <a:prstGeom prst="roundRect">
            <a:avLst>
              <a:gd name="adj" fmla="val 185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58568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961" y="1957913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58568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Joule Studio</a:t>
            </a:r>
            <a:endParaRPr lang="en-US" sz="930" dirty="0"/>
          </a:p>
        </p:txBody>
      </p:sp>
      <p:sp>
        <p:nvSpPr>
          <p:cNvPr id="18" name="Text 13"/>
          <p:cNvSpPr/>
          <p:nvPr/>
        </p:nvSpPr>
        <p:spPr>
          <a:xfrm>
            <a:off x="2258568" y="26700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Interprets intent, injects live business context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3602736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776472" y="1755648"/>
            <a:ext cx="1517904" cy="1481328"/>
          </a:xfrm>
          <a:prstGeom prst="roundRect">
            <a:avLst>
              <a:gd name="adj" fmla="val 185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95344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737" y="1957913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95344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analysis</a:t>
            </a:r>
            <a:endParaRPr lang="en-US" sz="930" dirty="0"/>
          </a:p>
        </p:txBody>
      </p:sp>
      <p:sp>
        <p:nvSpPr>
          <p:cNvPr id="24" name="Text 18"/>
          <p:cNvSpPr/>
          <p:nvPr/>
        </p:nvSpPr>
        <p:spPr>
          <a:xfrm>
            <a:off x="3895344" y="26700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· FSN · XYZ · VED · HML classification on material data</a:t>
            </a:r>
            <a:endParaRPr lang="en-US" sz="730" dirty="0"/>
          </a:p>
        </p:txBody>
      </p:sp>
      <p:sp>
        <p:nvSpPr>
          <p:cNvPr id="25" name="Text 19"/>
          <p:cNvSpPr/>
          <p:nvPr/>
        </p:nvSpPr>
        <p:spPr>
          <a:xfrm>
            <a:off x="5239512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13248" y="1755648"/>
            <a:ext cx="1517904" cy="1481328"/>
          </a:xfrm>
          <a:prstGeom prst="roundRect">
            <a:avLst>
              <a:gd name="adj" fmla="val 185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532120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5513" y="1957913"/>
            <a:ext cx="180685" cy="1806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930" dirty="0"/>
          </a:p>
        </p:txBody>
      </p:sp>
      <p:sp>
        <p:nvSpPr>
          <p:cNvPr id="30" name="Text 23"/>
          <p:cNvSpPr/>
          <p:nvPr/>
        </p:nvSpPr>
        <p:spPr>
          <a:xfrm>
            <a:off x="5532120" y="26700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Goods-receipt timelines learned from vendor–plant–material history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687628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7050024" y="1755648"/>
            <a:ext cx="1517904" cy="1481328"/>
          </a:xfrm>
          <a:prstGeom prst="roundRect">
            <a:avLst>
              <a:gd name="adj" fmla="val 185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168896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289" y="1957913"/>
            <a:ext cx="180685" cy="1806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68896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930" dirty="0"/>
          </a:p>
        </p:txBody>
      </p:sp>
      <p:sp>
        <p:nvSpPr>
          <p:cNvPr id="36" name="Text 28"/>
          <p:cNvSpPr/>
          <p:nvPr/>
        </p:nvSpPr>
        <p:spPr>
          <a:xfrm>
            <a:off x="7168896" y="26700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items, risk flags, and recommended actions</a:t>
            </a:r>
            <a:endParaRPr lang="en-US" sz="730" dirty="0"/>
          </a:p>
        </p:txBody>
      </p:sp>
      <p:sp>
        <p:nvSpPr>
          <p:cNvPr id="37" name="Shape 29"/>
          <p:cNvSpPr/>
          <p:nvPr/>
        </p:nvSpPr>
        <p:spPr>
          <a:xfrm>
            <a:off x="502920" y="3456432"/>
            <a:ext cx="813816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85800" y="3639312"/>
            <a:ext cx="402336" cy="402336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61" y="3735873"/>
            <a:ext cx="209215" cy="20921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234440" y="3584448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StockSense AI — supply chain intelligence in the field.  </a:t>
            </a:r>
            <a:pPr indent="0" marL="0">
              <a:buNone/>
            </a:pPr>
            <a:r>
              <a:rPr lang="en-US" sz="9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Joule + AI Core pattern applied to field execution: mobile stock transfers and approvals, obsolete-material flagging, predictive restock against demand, and conversational queries — “find current stock of 6-inch gate valves at Yard 3” — answered from live data.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502920" y="45720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JOULE · JOULE STUDIO · SAP AI CORE · AI AGENTS · CAP · SAP BPA · REACT · PYTHON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OUR WORK — GENAI, RAG &amp; CONVERSATIONAL AI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generation, grounded in your data.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789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Copilot — </a:t>
            </a:r>
            <a:pPr indent="0" marL="0">
              <a:buNone/>
            </a:pPr>
            <a:r>
              <a:rPr lang="en-US" sz="10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engine that learns from years of past RFPs, quotations, and winning proposals — then drafts context-aware responses and answers bid questions with evidence.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02920" y="1737360"/>
            <a:ext cx="1517904" cy="1463040"/>
          </a:xfrm>
          <a:prstGeom prst="roundRect">
            <a:avLst>
              <a:gd name="adj" fmla="val 187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856232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5" y="1939625"/>
            <a:ext cx="180685" cy="180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" y="25420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RFPs, proposals, and quotations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196596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139696" y="1737360"/>
            <a:ext cx="1517904" cy="1463040"/>
          </a:xfrm>
          <a:prstGeom prst="roundRect">
            <a:avLst>
              <a:gd name="adj" fmla="val 187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58568" y="1856232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961" y="1939625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58568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2258568" y="25420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text splitting with Langchain for optimal embeddings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3602736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776472" y="1737360"/>
            <a:ext cx="1517904" cy="1463040"/>
          </a:xfrm>
          <a:prstGeom prst="roundRect">
            <a:avLst>
              <a:gd name="adj" fmla="val 187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95344" y="1856232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737" y="1939625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95344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&amp; store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3895344" y="25420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 in the SAP HANA vector engine</a:t>
            </a:r>
            <a:endParaRPr lang="en-US" sz="730" dirty="0"/>
          </a:p>
        </p:txBody>
      </p:sp>
      <p:sp>
        <p:nvSpPr>
          <p:cNvPr id="25" name="Text 19"/>
          <p:cNvSpPr/>
          <p:nvPr/>
        </p:nvSpPr>
        <p:spPr>
          <a:xfrm>
            <a:off x="5239512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13248" y="1737360"/>
            <a:ext cx="1517904" cy="1463040"/>
          </a:xfrm>
          <a:prstGeom prst="roundRect">
            <a:avLst>
              <a:gd name="adj" fmla="val 187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532120" y="1856232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5513" y="1939625"/>
            <a:ext cx="180685" cy="1806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532120" y="25420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finds the most relevant past evidence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6876288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7050024" y="1737360"/>
            <a:ext cx="1517904" cy="1463040"/>
          </a:xfrm>
          <a:prstGeom prst="roundRect">
            <a:avLst>
              <a:gd name="adj" fmla="val 187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168896" y="1856232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289" y="1939625"/>
            <a:ext cx="180685" cy="1806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68896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7168896" y="25420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drafts proposal themes and precise, cited answers</a:t>
            </a:r>
            <a:endParaRPr lang="en-US" sz="730" dirty="0"/>
          </a:p>
        </p:txBody>
      </p:sp>
      <p:sp>
        <p:nvSpPr>
          <p:cNvPr id="37" name="Shape 29"/>
          <p:cNvSpPr/>
          <p:nvPr/>
        </p:nvSpPr>
        <p:spPr>
          <a:xfrm>
            <a:off x="502920" y="3419856"/>
            <a:ext cx="8138160" cy="104241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85800" y="3547872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use:  </a:t>
            </a:r>
            <a:pPr indent="0" marL="0">
              <a:buNone/>
            </a:pPr>
            <a:r>
              <a:rPr lang="en-US" sz="95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“What's the deadline? What should our winning bid value be? What are the key bidder expectations?” — answered in seconds from the document base. </a:t>
            </a:r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RAG pattern powers AyurVaidya's plain-English inventory assistant and CareFlow's clinical summaries.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502920" y="45720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LANGCHAIN · SAP HANA VECTOR ENGINE · LLM CHAT MODELS · NODE.JS · REACT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OUR WORK — INTELLIGENT AUTOMATION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purchase order arrives by email. A sales order appears in SAP.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PO-to-SO Automation Pipeline — </a:t>
            </a:r>
            <a:pPr indent="0" marL="0">
              <a:buNone/>
            </a:pPr>
            <a:r>
              <a:rPr lang="en-US" sz="10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document automation flow on SAP BTP that turns inbound customer POs into validated S/4HANA sales orders, with humans only where judgment is needed.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02920" y="1755648"/>
            <a:ext cx="1517904" cy="1554480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85" y="1957913"/>
            <a:ext cx="180685" cy="180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" y="25603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attachments auto-collected and stored in BTP Document Management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196596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139696" y="1755648"/>
            <a:ext cx="1517904" cy="1554480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58568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961" y="1957913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58568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AI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2258568" y="25603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Document Information Extraction reads every field — with confidence scores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3602736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776472" y="1755648"/>
            <a:ext cx="1517904" cy="1554480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95344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737" y="1957913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95344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3895344" y="25603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check customer, material, pricing; exceptions routed for review</a:t>
            </a:r>
            <a:endParaRPr lang="en-US" sz="730" dirty="0"/>
          </a:p>
        </p:txBody>
      </p:sp>
      <p:sp>
        <p:nvSpPr>
          <p:cNvPr id="25" name="Text 19"/>
          <p:cNvSpPr/>
          <p:nvPr/>
        </p:nvSpPr>
        <p:spPr>
          <a:xfrm>
            <a:off x="5239512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13248" y="1755648"/>
            <a:ext cx="1517904" cy="1554480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532120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5513" y="1957913"/>
            <a:ext cx="180685" cy="1806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 SAP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532120" y="25603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 Sales Order API posts the order — full audit trail maintained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687628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7050024" y="1755648"/>
            <a:ext cx="1517904" cy="1554480"/>
          </a:xfrm>
          <a:prstGeom prst="roundRect">
            <a:avLst>
              <a:gd name="adj" fmla="val 1807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168896" y="1874520"/>
            <a:ext cx="347472" cy="347472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289" y="1957913"/>
            <a:ext cx="180685" cy="1806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68896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7168896" y="25603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UI5 dashboard to monitor, correct, and retry — every step visible</a:t>
            </a:r>
            <a:endParaRPr lang="en-US" sz="730" dirty="0"/>
          </a:p>
        </p:txBody>
      </p:sp>
      <p:sp>
        <p:nvSpPr>
          <p:cNvPr id="37" name="Text 29"/>
          <p:cNvSpPr/>
          <p:nvPr/>
        </p:nvSpPr>
        <p:spPr>
          <a:xfrm>
            <a:off x="5029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900" dirty="0"/>
          </a:p>
        </p:txBody>
      </p:sp>
      <p:sp>
        <p:nvSpPr>
          <p:cNvPr id="38" name="Text 30"/>
          <p:cNvSpPr/>
          <p:nvPr/>
        </p:nvSpPr>
        <p:spPr>
          <a:xfrm>
            <a:off x="502920" y="3995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MANUAL DATA ENTRY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32461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→ minutes</a:t>
            </a:r>
            <a:endParaRPr lang="en-US" sz="1900" dirty="0"/>
          </a:p>
        </p:txBody>
      </p:sp>
      <p:sp>
        <p:nvSpPr>
          <p:cNvPr id="40" name="Text 32"/>
          <p:cNvSpPr/>
          <p:nvPr/>
        </p:nvSpPr>
        <p:spPr>
          <a:xfrm>
            <a:off x="3246120" y="3995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PROCESSING TIME</a:t>
            </a:r>
            <a:endParaRPr lang="en-US" sz="700" dirty="0"/>
          </a:p>
        </p:txBody>
      </p:sp>
      <p:sp>
        <p:nvSpPr>
          <p:cNvPr id="41" name="Text 33"/>
          <p:cNvSpPr/>
          <p:nvPr/>
        </p:nvSpPr>
        <p:spPr>
          <a:xfrm>
            <a:off x="59893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42" name="Text 34"/>
          <p:cNvSpPr/>
          <p:nvPr/>
        </p:nvSpPr>
        <p:spPr>
          <a:xfrm>
            <a:off x="5989320" y="3995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AUDITABILITY — EVERY CORRECTION LOGGED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502920" y="44348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BPA · SAP BUILD · DOCUMENT INFORMATION EXTRACTION · BTP DMS · CAP · UI5 · S/4HANA · ODATA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— OUR WORK — DATA &amp; ANALYTICS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 custom objects. One migration answer.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Core Assessment Dashboard — global engineering firm, Germany.  </a:t>
            </a:r>
            <a:pPr indent="0" marL="0">
              <a:buNone/>
            </a:pPr>
            <a:r>
              <a:rPr lang="en-US" sz="10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 15+ S/4HANA and ECC systems to answer the question every CIO asks before a migration: what do we actually run, and what will it cost us to move?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02920" y="1755648"/>
            <a:ext cx="3986784" cy="1060704"/>
          </a:xfrm>
          <a:prstGeom prst="roundRect">
            <a:avLst>
              <a:gd name="adj" fmla="val 258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" y="1883664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40" y="1962668"/>
            <a:ext cx="171176" cy="171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86537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Extensibility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51560" y="2103120"/>
            <a:ext cx="3310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custom object classified into clean-core tiers 1–3 — cloud-ready, at-risk, or rebuild — to prioritise standardisation.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4654296" y="1755648"/>
            <a:ext cx="3986784" cy="1060704"/>
          </a:xfrm>
          <a:prstGeom prst="roundRect">
            <a:avLst>
              <a:gd name="adj" fmla="val 258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82312" y="1883664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16" y="1962668"/>
            <a:ext cx="171176" cy="171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02936" y="186537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202936" y="2103120"/>
            <a:ext cx="3310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Completeness, accuracy, and consistency scored per data domain — customer, material, vendor — surfacing weak links before they break a migration.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502920" y="2944368"/>
            <a:ext cx="3986784" cy="1060704"/>
          </a:xfrm>
          <a:prstGeom prst="roundRect">
            <a:avLst>
              <a:gd name="adj" fmla="val 258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0936" y="3072384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0" y="3151388"/>
            <a:ext cx="171176" cy="171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0540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051560" y="3291840"/>
            <a:ext cx="3310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OData vs legacy RFC / IDoc dependency mapping — the true integration debt made visible.</a:t>
            </a:r>
            <a:endParaRPr lang="en-US" sz="820" dirty="0"/>
          </a:p>
        </p:txBody>
      </p:sp>
      <p:sp>
        <p:nvSpPr>
          <p:cNvPr id="23" name="Shape 17"/>
          <p:cNvSpPr/>
          <p:nvPr/>
        </p:nvSpPr>
        <p:spPr>
          <a:xfrm>
            <a:off x="4654296" y="2944368"/>
            <a:ext cx="3986784" cy="1060704"/>
          </a:xfrm>
          <a:prstGeom prst="roundRect">
            <a:avLst>
              <a:gd name="adj" fmla="val 2586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82312" y="3072384"/>
            <a:ext cx="329184" cy="329184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316" y="3151388"/>
            <a:ext cx="171176" cy="171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02936" y="30540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202936" y="3291840"/>
            <a:ext cx="3310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ABAP dumps, failed jobs, transport errors, inactive users — a live monitor of system health, not a one-off audit.</a:t>
            </a:r>
            <a:endParaRPr lang="en-US" sz="820" dirty="0"/>
          </a:p>
        </p:txBody>
      </p:sp>
      <p:sp>
        <p:nvSpPr>
          <p:cNvPr id="28" name="Text 21"/>
          <p:cNvSpPr/>
          <p:nvPr/>
        </p:nvSpPr>
        <p:spPr>
          <a:xfrm>
            <a:off x="502920" y="40416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02920" y="4389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OBJECTS CLASSIFIED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3246120" y="40416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3246120" y="4389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 ANALYSED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5989320" y="40416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6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5989320" y="4389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SYSTEM-HEALTH VIEWS IN SAC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502920" y="45902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4E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HANA CLOUD CALCULATION VIEWS · SAP ANALYTICS CLOUD · CAP · ABAP EXTRACTORS · FIORI ELEMENTS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— OUR WORK — FULL-STACK PRODUCTS WITH AI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also ship our own AI products.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1234440"/>
            <a:ext cx="2633472" cy="2999232"/>
          </a:xfrm>
          <a:prstGeom prst="roundRect">
            <a:avLst>
              <a:gd name="adj" fmla="val 104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" y="1371600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1459382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6424" y="13898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HEALTHCARE — US CLINICS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1106424" y="15636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CareFlow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9224" y="1929384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clinic operations alongside existing EMRs — live-slot booking, consultation recording to structured SOAP notes in 60 seconds, a follow-up engine that watches for cancellations and offers earlier slots, and controlled medication refills.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649224" y="38313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FOLLOW-UP COMPLIANCE &lt;40% → 80%+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3264408" y="1234440"/>
            <a:ext cx="2633472" cy="2999232"/>
          </a:xfrm>
          <a:prstGeom prst="roundRect">
            <a:avLst>
              <a:gd name="adj" fmla="val 104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10712" y="1371600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494" y="145938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67912" y="13898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AYUSH INSTITUTIONS — INDIA</a:t>
            </a:r>
            <a:endParaRPr lang="en-US" sz="680" dirty="0"/>
          </a:p>
        </p:txBody>
      </p:sp>
      <p:sp>
        <p:nvSpPr>
          <p:cNvPr id="18" name="Text 13"/>
          <p:cNvSpPr/>
          <p:nvPr/>
        </p:nvSpPr>
        <p:spPr>
          <a:xfrm>
            <a:off x="3867912" y="15636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AyurVaidya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410712" y="1929384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+ CAPEX inventory for Ayurveda hospitals — FEFO batch management, expiry and AMC alerts, QR-coded audit trail, an AI assistant, and anomaly detection that flags unusual consumption spikes and at-risk batches before they become losses. Deployed at the All India Institute of Ayurveda, New Delhi.</a:t>
            </a:r>
            <a:endParaRPr lang="en-US" sz="860" dirty="0"/>
          </a:p>
        </p:txBody>
      </p:sp>
      <p:sp>
        <p:nvSpPr>
          <p:cNvPr id="20" name="Text 15"/>
          <p:cNvSpPr/>
          <p:nvPr/>
        </p:nvSpPr>
        <p:spPr>
          <a:xfrm>
            <a:off x="3410712" y="38313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ITEMS · 28 LIVE ALERTS · ANOMALY FLAGS</a:t>
            </a:r>
            <a:endParaRPr lang="en-US" sz="730" dirty="0"/>
          </a:p>
        </p:txBody>
      </p:sp>
      <p:sp>
        <p:nvSpPr>
          <p:cNvPr id="21" name="Shape 16"/>
          <p:cNvSpPr/>
          <p:nvPr/>
        </p:nvSpPr>
        <p:spPr>
          <a:xfrm>
            <a:off x="6025896" y="1234440"/>
            <a:ext cx="2633472" cy="2999232"/>
          </a:xfrm>
          <a:prstGeom prst="roundRect">
            <a:avLst>
              <a:gd name="adj" fmla="val 1042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1371600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982" y="1459382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13898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AI — FITNESS</a:t>
            </a:r>
            <a:endParaRPr lang="en-US" sz="680" dirty="0"/>
          </a:p>
        </p:txBody>
      </p:sp>
      <p:sp>
        <p:nvSpPr>
          <p:cNvPr id="25" name="Text 19"/>
          <p:cNvSpPr/>
          <p:nvPr/>
        </p:nvSpPr>
        <p:spPr>
          <a:xfrm>
            <a:off x="6629400" y="15636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Comeback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172200" y="1929384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coaching platform with 11 LLM touchpoints — contextual memory, planned-vs-actual pattern analysis, and vision-based nutrition tracking built for the Indian context.</a:t>
            </a:r>
            <a:endParaRPr lang="en-US" sz="860" dirty="0"/>
          </a:p>
        </p:txBody>
      </p:sp>
      <p:sp>
        <p:nvSpPr>
          <p:cNvPr id="27" name="Text 21"/>
          <p:cNvSpPr/>
          <p:nvPr/>
        </p:nvSpPr>
        <p:spPr>
          <a:xfrm>
            <a:off x="6172200" y="383133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LLM TOUCHPOINTS · PATTERN ANALYSIS</a:t>
            </a:r>
            <a:endParaRPr lang="en-US" sz="730" dirty="0"/>
          </a:p>
        </p:txBody>
      </p:sp>
      <p:sp>
        <p:nvSpPr>
          <p:cNvPr id="28" name="Text 22"/>
          <p:cNvSpPr/>
          <p:nvPr/>
        </p:nvSpPr>
        <p:spPr>
          <a:xfrm>
            <a:off x="502920" y="43708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veterinary platform (PawPilot) ships on the same component architecture — 60% development-effort reuse. Stack: React · Node.js · MongoDB · GenAI · Speech-to-Text · Vision.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— THE PRACTITIONER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Prashant Agarwal — Founder &amp; Principal Architect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SAP-certified BTP Solution Architect with 14+ years of enterprise delivery — SAP BTP, Clean Core extensions, AI-driven systems, cloud architecture, full-stack engineering, and production-scale applications. He thinks like a business leader and delivers like an engineer.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12648" y="2075688"/>
            <a:ext cx="6291072" cy="0"/>
          </a:xfrm>
          <a:prstGeom prst="line">
            <a:avLst/>
          </a:prstGeom>
          <a:noFill/>
          <a:ln w="19050">
            <a:solidFill>
              <a:srgbClr val="C086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" y="200253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221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2487168"/>
            <a:ext cx="180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foundations — full-stack platforms and ERP delivery for global clients.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606040" y="200253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9464" y="2221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569464" y="2487168"/>
            <a:ext cx="180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for European operations — enterprise analytics and Clean Core assessment at scale.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4672584" y="2002536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6008" y="2221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36008" y="2487168"/>
            <a:ext cx="180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architect for a global industrial field-operations platform — live in production.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6739128" y="2002536"/>
            <a:ext cx="146304" cy="146304"/>
          </a:xfrm>
          <a:prstGeom prst="ellipse">
            <a:avLst/>
          </a:prstGeom>
          <a:solidFill>
            <a:srgbClr val="C0863F"/>
          </a:solidFill>
          <a:ln w="19050">
            <a:solidFill>
              <a:srgbClr val="C0863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02552" y="2221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702552" y="2487168"/>
            <a:ext cx="1801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Founds Thread &amp; Core — an independent, architect-led enterprise practice.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02920" y="3429000"/>
            <a:ext cx="8138160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4787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   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6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Certified Associate — Backend Developer (CAP)  ·  SAP Certified Associate — Fiori Application Developer  ·  SAP Instructor for BTP100 &amp; CLD200  ·  Corporate SAP BTP training delivered for global enterprises  ·  Industries: mining, manufacturing, oil &amp; gas, engineering, healthcare, HR, analytics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— WAYS TO ENGAGE</a:t>
            </a:r>
            <a:endParaRPr lang="en-US" sz="900" dirty="0"/>
          </a:p>
        </p:txBody>
      </p:sp>
      <p:pic>
        <p:nvPicPr>
          <p:cNvPr id="3" name="Image 0" descr="logo_mark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1828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8508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0" y="4850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   ·   16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problem worth connecting.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first engagement is specific enough to deliver value quickly — and important enough to reveal the larger architecture.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1938528" cy="2331720"/>
          </a:xfrm>
          <a:prstGeom prst="roundRect">
            <a:avLst>
              <a:gd name="adj" fmla="val 141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" y="1837944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1925726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WEEKS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49224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Diagnostic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9224" y="3108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of systems, process gaps, integration risk, and roadmap options — with a written, actionable output.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569464" y="1691640"/>
            <a:ext cx="1938528" cy="2331720"/>
          </a:xfrm>
          <a:prstGeom prst="roundRect">
            <a:avLst>
              <a:gd name="adj" fmla="val 141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15768" y="1837944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550" y="1925726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15768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4–8 WEEKS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2715768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Pilot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15768" y="3108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workflow, integration, dashboard, AI assistant, or ERP extension — shipped to real users.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36008" y="1691640"/>
            <a:ext cx="1938528" cy="2331720"/>
          </a:xfrm>
          <a:prstGeom prst="roundRect">
            <a:avLst>
              <a:gd name="adj" fmla="val 141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2312" y="1837944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94" y="1925726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2312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PROGRAMME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782312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Modernisation Roadmap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82312" y="3108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plan for Clean Core, platform adoption, automation, and data — sequenced by business value.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702552" y="1691640"/>
            <a:ext cx="1938528" cy="2331720"/>
          </a:xfrm>
          <a:prstGeom prst="roundRect">
            <a:avLst>
              <a:gd name="adj" fmla="val 1415"/>
            </a:avLst>
          </a:prstGeom>
          <a:solidFill>
            <a:srgbClr val="F8F5EF"/>
          </a:solidFill>
          <a:ln w="9525">
            <a:solidFill>
              <a:srgbClr val="E7E0D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848856" y="1837944"/>
            <a:ext cx="365760" cy="365760"/>
          </a:xfrm>
          <a:prstGeom prst="ellipse">
            <a:avLst/>
          </a:prstGeom>
          <a:solidFill>
            <a:srgbClr val="F3E3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6638" y="1925726"/>
            <a:ext cx="190195" cy="19019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48856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ONGOING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6848856" y="25328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Partnership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848856" y="3108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implementation of enterprise applications, workflows, integrations, and AI-enabled systems.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02920" y="42611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 run remote or onsite, globally — anchored from Pune, India.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5544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how your business runs.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tell you what to build.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2743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42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taking every engagement. We are taking the right ones — where architecture can create real leverage and the client wants a peer, not a vendor.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2920" y="3566160"/>
            <a:ext cx="7223760" cy="0"/>
          </a:xfrm>
          <a:prstGeom prst="line">
            <a:avLst/>
          </a:prstGeom>
          <a:noFill/>
          <a:ln w="15875">
            <a:solidFill>
              <a:srgbClr val="C0863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71816" y="3511296"/>
            <a:ext cx="109728" cy="109728"/>
          </a:xfrm>
          <a:prstGeom prst="ellipse">
            <a:avLst/>
          </a:prstGeom>
          <a:solidFill>
            <a:srgbClr val="C0863F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749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45920" y="3749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Prashant.Agarwal@threadandcore.com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40050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45920" y="40050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threadandcore.com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2611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45920" y="42611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linkedin.com/in/agarawal-prashant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5171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D6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45920" y="451713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Pune, India — remote &amp; onsite, globally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49240" y="48508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and Core Systems Private Limited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&amp; Core Systems — Capability Deck</dc:title>
  <dc:subject>PptxGenJS Presentation</dc:subject>
  <dc:creator>Thread &amp; Core Systems</dc:creator>
  <cp:lastModifiedBy>Thread &amp; Core Systems</cp:lastModifiedBy>
  <cp:revision>1</cp:revision>
  <dcterms:created xsi:type="dcterms:W3CDTF">2026-07-10T06:52:28Z</dcterms:created>
  <dcterms:modified xsi:type="dcterms:W3CDTF">2026-07-10T06:52:28Z</dcterms:modified>
</cp:coreProperties>
</file>